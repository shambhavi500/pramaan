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486400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005840"/>
            <a:ext cx="484632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35FA0"/>
                </a:solidFill>
                <a:latin typeface="Arial"/>
              </a:defRPr>
            </a:pPr>
            <a:r>
              <a:t>CODE CUBICLE 6.0 · CLOUDINARY TRACK (PS-02)</a:t>
            </a:r>
          </a:p>
          <a:p>
            <a:pPr>
              <a:spcBef>
                <a:spcPts val="1200"/>
              </a:spcBef>
              <a:defRPr sz="3600" b="1">
                <a:solidFill>
                  <a:srgbClr val="0F1B2B"/>
                </a:solidFill>
                <a:latin typeface="Georgia"/>
              </a:defRPr>
            </a:pPr>
            <a:r>
              <a:t>Pramaan (प्रमाण)</a:t>
            </a:r>
          </a:p>
          <a:p>
            <a:pPr>
              <a:spcBef>
                <a:spcPts val="600"/>
              </a:spcBef>
              <a:defRPr sz="1500">
                <a:solidFill>
                  <a:srgbClr val="235FA0"/>
                </a:solidFill>
                <a:latin typeface="Georgia"/>
              </a:defRPr>
            </a:pPr>
            <a:r>
              <a:t>Proof for Every Photo: The Verifiable Field Media Pipeline</a:t>
            </a:r>
          </a:p>
          <a:p>
            <a:pPr>
              <a:spcBef>
                <a:spcPts val="1600"/>
              </a:spcBef>
              <a:defRPr sz="1100">
                <a:solidFill>
                  <a:srgbClr val="33475F"/>
                </a:solidFill>
                <a:latin typeface="Arial"/>
              </a:defRPr>
            </a:pPr>
            <a:r>
              <a:t>An evidence pipeline that turns unstructured field photos into cryptographic, explainable proof for CSR, climate &amp; public infrastructure monitoring. Every photo carries an unbroken chain of custody from capture to report.</a:t>
            </a:r>
          </a:p>
          <a:p>
            <a:pPr>
              <a:spcBef>
                <a:spcPts val="2800"/>
              </a:spcBef>
              <a:defRPr sz="950" b="1">
                <a:solidFill>
                  <a:srgbClr val="667B93"/>
                </a:solidFill>
                <a:latin typeface="Arial"/>
              </a:defRPr>
            </a:pPr>
            <a:r>
              <a:t>CORE IMPLEMENTATION STACK</a:t>
            </a:r>
          </a:p>
          <a:p>
            <a:pPr>
              <a:spcBef>
                <a:spcPts val="400"/>
              </a:spcBef>
              <a:defRPr sz="1000">
                <a:solidFill>
                  <a:srgbClr val="0F1B2B"/>
                </a:solidFill>
                <a:latin typeface="Consolas"/>
              </a:defRPr>
            </a:pPr>
            <a:r>
              <a:t>Next.js 15 (App Router) · Cloudinary AI · Supabase PostGIS · LangGraph + Gemini</a:t>
            </a:r>
          </a:p>
          <a:p>
            <a:pPr>
              <a:spcBef>
                <a:spcPts val="1400"/>
              </a:spcBef>
              <a:defRPr sz="950" b="1">
                <a:solidFill>
                  <a:srgbClr val="667B93"/>
                </a:solidFill>
                <a:latin typeface="Arial"/>
              </a:defRPr>
            </a:pPr>
            <a:r>
              <a:t>INTEGRITY GUARANTEE</a:t>
            </a:r>
          </a:p>
          <a:p>
            <a:pPr>
              <a:spcBef>
                <a:spcPts val="400"/>
              </a:spcBef>
              <a:defRPr sz="1000">
                <a:solidFill>
                  <a:srgbClr val="16855A"/>
                </a:solidFill>
                <a:latin typeface="Consolas"/>
              </a:defRPr>
            </a:pPr>
            <a:r>
              <a:t>8-Signal Explainable Trust Engine · Generative Firewall · Tamper-Evident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731520"/>
            <a:ext cx="5010912" cy="5394960"/>
          </a:xfrm>
          <a:prstGeom prst="roundRect">
            <a:avLst>
              <a:gd name="adj" fmla="val 4000"/>
            </a:avLst>
          </a:prstGeom>
          <a:solidFill>
            <a:srgbClr val="F3F7FB"/>
          </a:solidFill>
          <a:ln w="12700">
            <a:solidFill>
              <a:srgbClr val="B9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822960"/>
            <a:ext cx="482803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THE PROBLEM · GROUND REALITY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Visual claims without cryptographic custody fail under scrutiny.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Over ₹35,000 Cr in annual Indian CSR and ₹1.4 lakh Cr in public rural schemes rely on field photos that anyone can restage, recycle, or rephotograph off a screen.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B7791F"/>
                </a:solidFill>
                <a:latin typeface="Arial"/>
              </a:defRPr>
            </a:pPr>
            <a:r>
              <a:t>01 / THE DATA LOSS</a:t>
            </a:r>
          </a:p>
          <a:p>
            <a:pPr>
              <a:spcBef>
                <a:spcPts val="600"/>
              </a:spcBef>
              <a:defRPr sz="1600" b="1">
                <a:solidFill>
                  <a:srgbClr val="0F1B2B"/>
                </a:solidFill>
                <a:latin typeface="Georgia"/>
              </a:defRPr>
            </a:pPr>
            <a:r>
              <a:t>Context-Stripped Ingestion</a:t>
            </a:r>
          </a:p>
          <a:p>
            <a:pPr>
              <a:spcBef>
                <a:spcPts val="1200"/>
              </a:spcBef>
              <a:defRPr sz="1100">
                <a:solidFill>
                  <a:srgbClr val="33475F"/>
                </a:solidFill>
                <a:latin typeface="Arial"/>
              </a:defRPr>
            </a:pPr>
            <a:r>
              <a:t>Field photos arrive via consumer messaging apps that automatically strip EXIF timestamps and GPS coordinates.</a:t>
            </a:r>
            <a:br/>
            <a:br/>
            <a:r>
              <a:t>Without device-level binding, photos cannot prove where or when they were captured. Auditors are forced to accept unauthenticated image files with zero chain of custody.</a:t>
            </a:r>
          </a:p>
          <a:p>
            <a:pPr>
              <a:spcBef>
                <a:spcPts val="1800"/>
              </a:spcBef>
              <a:defRPr sz="950">
                <a:solidFill>
                  <a:srgbClr val="667B93"/>
                </a:solidFill>
                <a:latin typeface="Consolas"/>
              </a:defRPr>
            </a:pPr>
            <a:r>
              <a:t>RESULT: Metadata vacuum at the point of origin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43D4E"/>
                </a:solidFill>
                <a:latin typeface="Arial"/>
              </a:defRPr>
            </a:pPr>
            <a:r>
              <a:t>02 / THE FRAUD ADAPTATION</a:t>
            </a:r>
          </a:p>
          <a:p>
            <a:pPr>
              <a:spcBef>
                <a:spcPts val="600"/>
              </a:spcBef>
              <a:defRPr sz="1600" b="1">
                <a:solidFill>
                  <a:srgbClr val="0F1B2B"/>
                </a:solidFill>
                <a:latin typeface="Georgia"/>
              </a:defRPr>
            </a:pPr>
            <a:r>
              <a:t>Photos of Photographs</a:t>
            </a:r>
          </a:p>
          <a:p>
            <a:pPr>
              <a:spcBef>
                <a:spcPts val="1200"/>
              </a:spcBef>
              <a:defRPr sz="1100">
                <a:solidFill>
                  <a:srgbClr val="33475F"/>
                </a:solidFill>
                <a:latin typeface="Arial"/>
              </a:defRPr>
            </a:pPr>
            <a:r>
              <a:t>When India enforced geotagged photo monitoring for MGNREGS, ₹2,600 Cr in fake wage claims were uncovered in Rajasthan in just 7 months.</a:t>
            </a:r>
            <a:br/>
            <a:br/>
            <a:r>
              <a:t>Fraud then adapted: field operators photographed laptop screens displaying old photos. By July 2025, the Ministry ordered emergency manual verification due to screen recaptures.</a:t>
            </a:r>
          </a:p>
          <a:p>
            <a:pPr>
              <a:spcBef>
                <a:spcPts val="1800"/>
              </a:spcBef>
              <a:defRPr sz="950">
                <a:solidFill>
                  <a:srgbClr val="C43D4E"/>
                </a:solidFill>
                <a:latin typeface="Consolas"/>
              </a:defRPr>
            </a:pPr>
            <a:r>
              <a:t>RESULT: Re-photographed media bypasses naive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92024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03 / THE REGULATORY RISK</a:t>
            </a:r>
          </a:p>
          <a:p>
            <a:pPr>
              <a:spcBef>
                <a:spcPts val="600"/>
              </a:spcBef>
              <a:defRPr sz="1600" b="1">
                <a:solidFill>
                  <a:srgbClr val="0F1B2B"/>
                </a:solidFill>
                <a:latin typeface="Georgia"/>
              </a:defRPr>
            </a:pPr>
            <a:r>
              <a:t>Mandated Impact Audits</a:t>
            </a:r>
          </a:p>
          <a:p>
            <a:pPr>
              <a:spcBef>
                <a:spcPts val="1200"/>
              </a:spcBef>
              <a:defRPr sz="1100">
                <a:solidFill>
                  <a:srgbClr val="33475F"/>
                </a:solidFill>
                <a:latin typeface="Arial"/>
              </a:defRPr>
            </a:pPr>
            <a:r>
              <a:t>Companies Act Rule 8(3) mandates independent impact assessments for major CSR projects, yet 42% of non-profits face soaring audit demands without verifiable media pipelines.</a:t>
            </a:r>
            <a:br/>
            <a:br/>
            <a:r>
              <a:t>Simultaneously, India's DPDP Act requires strict beneficiary consent, making unredacted community photos a serious regulatory compliance liability.</a:t>
            </a:r>
          </a:p>
          <a:p>
            <a:pPr>
              <a:spcBef>
                <a:spcPts val="1800"/>
              </a:spcBef>
              <a:defRPr sz="950">
                <a:solidFill>
                  <a:srgbClr val="667B93"/>
                </a:solidFill>
                <a:latin typeface="Consolas"/>
              </a:defRPr>
            </a:pPr>
            <a:r>
              <a:t>RESULT: Institutional compliance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OUR SOLUTION · THE EVIDENCE PIPELINE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From field capture to cited report: every pixel traceable.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Pramaan establishes an unbroken cryptographic chain of custody, ensuring only authentic, in-geofence, non-synthetic media supports institutional impact claims.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5FA0"/>
                </a:solidFill>
                <a:latin typeface="Arial"/>
              </a:defRPr>
            </a:pPr>
            <a:r>
              <a:t>01 / CAPTURE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Client-Side Binding &amp; Gating</a:t>
            </a:r>
          </a:p>
          <a:p>
            <a:pPr>
              <a:spcBef>
                <a:spcPts val="2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Device records SHA-256 and locks GPS before direct upload; Cloudinary eval gate rejects corrupted or non-compliant files before storage.</a:t>
            </a:r>
          </a:p>
          <a:p>
            <a:pPr>
              <a:spcBef>
                <a:spcPts val="10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02 / PERCEPTION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Deterministic Visual Analysis</a:t>
            </a:r>
          </a:p>
          <a:p>
            <a:pPr>
              <a:spcBef>
                <a:spcPts val="2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Cloudinary webhook extracts EXIF, computes 64-bit pHash, detects faces for privacy, and queries AI Vision JSON schemas for activity match.</a:t>
            </a:r>
          </a:p>
          <a:p>
            <a:pPr>
              <a:spcBef>
                <a:spcPts val="10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03 / VERIFICATION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Explainable Trust Engine</a:t>
            </a:r>
          </a:p>
          <a:p>
            <a:pPr>
              <a:spcBef>
                <a:spcPts val="2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8 weighted signals score evidence (0-100). Dual hard caps isolate duplicates (pHash &lt;= 4), screen recaptures, and out-of-geofence submissions.</a:t>
            </a:r>
          </a:p>
          <a:p>
            <a:pPr>
              <a:spcBef>
                <a:spcPts val="10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04 / PROVENANCE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Tamper-Evident Ledger &amp; QR</a:t>
            </a:r>
          </a:p>
          <a:p>
            <a:pPr>
              <a:spcBef>
                <a:spcPts val="2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Every decision, derivative, and citation is recorded in a SHA-256 hash-chained ledger. External auditors verify lineage via QR link.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737360"/>
            <a:ext cx="5376672" cy="4389120"/>
          </a:xfrm>
          <a:prstGeom prst="roundRect">
            <a:avLst>
              <a:gd name="adj" fmla="val 4000"/>
            </a:avLst>
          </a:prstGeom>
          <a:solidFill>
            <a:srgbClr val="F3F7FB"/>
          </a:solidFill>
          <a:ln w="12700">
            <a:solidFill>
              <a:srgbClr val="B9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proto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519379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SYSTEM ARCHITECTURE · TECHNICAL IMPLEMENTATION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Perception, reasoning, and custody operating in strict isolation.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Cloudinary inspects and transforms; Supabase enforces spatial boundaries and cryptographic custody; Gemini reasons strictly over structured records.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6217920" cy="4389120"/>
          </a:xfrm>
          <a:prstGeom prst="roundRect">
            <a:avLst>
              <a:gd name="adj" fmla="val 4000"/>
            </a:avLst>
          </a:prstGeom>
          <a:solidFill>
            <a:srgbClr val="F3F7FB"/>
          </a:solidFill>
          <a:ln w="12700">
            <a:solidFill>
              <a:srgbClr val="B9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603504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78040" y="1737360"/>
            <a:ext cx="4279392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920240"/>
            <a:ext cx="3822191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5FA0"/>
                </a:solidFill>
                <a:latin typeface="Arial"/>
              </a:defRPr>
            </a:pPr>
            <a:r>
              <a:t>INGESTION &amp; PERCEPTION</a:t>
            </a:r>
          </a:p>
          <a:p>
            <a:pPr>
              <a:spcBef>
                <a:spcPts val="300"/>
              </a:spcBef>
              <a:defRPr sz="1400" b="1">
                <a:solidFill>
                  <a:srgbClr val="0F1B2B"/>
                </a:solidFill>
                <a:latin typeface="Georgia"/>
              </a:defRPr>
            </a:pPr>
            <a:r>
              <a:t>Cloudinary Media Engine</a:t>
            </a:r>
          </a:p>
          <a:p>
            <a:pPr>
              <a:spcBef>
                <a:spcPts val="4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Signed direct uploads restricted to upload presets. Cloudinary computes 64-bit perceptual hash, extracts EXIF, detects faces, and executes AI Vision with JSON schemas.</a:t>
            </a:r>
          </a:p>
          <a:p>
            <a:pPr>
              <a:spcBef>
                <a:spcPts val="14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VERIFICATION &amp; CUSTODY</a:t>
            </a:r>
          </a:p>
          <a:p>
            <a:pPr>
              <a:spcBef>
                <a:spcPts val="300"/>
              </a:spcBef>
              <a:defRPr sz="1400" b="1">
                <a:solidFill>
                  <a:srgbClr val="0F1B2B"/>
                </a:solidFill>
                <a:latin typeface="Georgia"/>
              </a:defRPr>
            </a:pPr>
            <a:r>
              <a:t>PostGIS &amp; Trust Engine</a:t>
            </a:r>
          </a:p>
          <a:p>
            <a:pPr>
              <a:spcBef>
                <a:spcPts val="4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Next.js executes 8-signal scoring math. Supabase PostGIS verifies geofence containment with 150 m tolerance. Bitwise popcount pHash matching detects reused media. All events written to SHA-256 ledger.</a:t>
            </a:r>
          </a:p>
          <a:p>
            <a:pPr>
              <a:spcBef>
                <a:spcPts val="14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AGENTIC REASONING</a:t>
            </a:r>
          </a:p>
          <a:p>
            <a:pPr>
              <a:spcBef>
                <a:spcPts val="300"/>
              </a:spcBef>
              <a:defRPr sz="1400" b="1">
                <a:solidFill>
                  <a:srgbClr val="0F1B2B"/>
                </a:solidFill>
                <a:latin typeface="Georgia"/>
              </a:defRPr>
            </a:pPr>
            <a:r>
              <a:t>LangGraph &amp; Gemini</a:t>
            </a:r>
          </a:p>
          <a:p>
            <a:pPr>
              <a:spcBef>
                <a:spcPts val="4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Gemini acts as an auditor, not an evidence generator. Orchestrated by LangGraph with human-in-the-loop checkpoints, generating impact reports citing evidence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CORE PRODUCT EXPERIENCE · HUMAN VERIFICATION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Explainable trust scoring replaces black-box guessing.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Reviewers inspect flagged media with transparent signal breakdowns, impact claims reflect verified evidence, and temporal change is proven through baseline alignment.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28416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rop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054096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06908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43D4E"/>
                </a:solidFill>
                <a:latin typeface="Arial"/>
              </a:defRPr>
            </a:pPr>
            <a:r>
              <a:t>STEP 01 / MODERATION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Review Queue &amp; Hard Flags</a:t>
            </a:r>
          </a:p>
          <a:p>
            <a:pPr>
              <a:spcBef>
                <a:spcPts val="4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Evidence ev_jh04_after_wronggeo flagged with Trust Score 40. Alert: 'EXIF GPS is 6,327 m outside site geofence.' Hotkeys V (verify) and R (reject) commit decisions directly to audit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rop_clai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874519"/>
            <a:ext cx="3054096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8576" y="406908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5FA0"/>
                </a:solidFill>
                <a:latin typeface="Arial"/>
              </a:defRPr>
            </a:pPr>
            <a:r>
              <a:t>STEP 02 / CLAIMS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Impact Claims Coverage</a:t>
            </a:r>
          </a:p>
          <a:p>
            <a:pPr>
              <a:spcBef>
                <a:spcPts val="4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Claims scored solely against verified proof. Check dam construction: Strong (5/5 verified). Water retention: Moderate (4/6). Bank vegetation: Weak (2/6). Unverified and flagged photos are mathematically excluded.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737360"/>
            <a:ext cx="3328416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874519"/>
            <a:ext cx="3054096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02752" y="406908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855A"/>
                </a:solidFill>
                <a:latin typeface="Arial"/>
              </a:defRPr>
            </a:pPr>
            <a:r>
              <a:t>STEP 03 / TEMPORAL PROOF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Before &amp; After Alignment</a:t>
            </a:r>
          </a:p>
          <a:p>
            <a:pPr>
              <a:spcBef>
                <a:spcPts val="4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Interactive comparison slider locks baseline dry gully (May 2026) against completed post-monsoon check dam (Sep 2026) from identical surveyed vantage. Proves physical structure and water impoundment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TECHNICAL INNOVATION · INTEGRITY ENGINEERING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Deterministic perception paired with agentic reasoning.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Pramaan enforces strict architectural boundaries so AI models provide high-level reasoning without ever contaminating the underlying evidence layer.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35FA0"/>
                </a:solidFill>
                <a:latin typeface="Arial"/>
              </a:defRPr>
            </a:pPr>
            <a:r>
              <a:t>01 / EVIDENCE INTEGRITY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The Generative Firewall (assertGenerativeFirewall)</a:t>
            </a:r>
          </a:p>
          <a:p>
            <a:pPr>
              <a:spcBef>
                <a:spcPts val="3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Transforms classified as transcoded, redacted, edited, or ai_generated. assertGenerativeFirewall throws on e_gen_*, b_gen_fill, background removal, or upscaling. Generative pixels are strictly banned from evidence.</a:t>
            </a:r>
          </a:p>
          <a:p>
            <a:pPr>
              <a:spcBef>
                <a:spcPts val="12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02 / SPATIAL &amp; FORENSIC MATH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PostGIS Containment &amp; 64-bit pHash Matching</a:t>
            </a:r>
          </a:p>
          <a:p>
            <a:pPr>
              <a:spcBef>
                <a:spcPts val="3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check_site_geofence RPC calculates polygon boundary distance; &gt;150 m triggers hard flag cap (Score 40). Bitwise popcount pHash matching in SQL identifies reused media (&lt;=4 bits) even if resized or recompressed.</a:t>
            </a:r>
          </a:p>
          <a:p>
            <a:pPr>
              <a:spcBef>
                <a:spcPts val="1200"/>
              </a:spcBef>
              <a:defRPr sz="900" b="1">
                <a:solidFill>
                  <a:srgbClr val="235FA0"/>
                </a:solidFill>
                <a:latin typeface="Arial"/>
              </a:defRPr>
            </a:pPr>
            <a:r>
              <a:t>03 / ORCHESTRATION &amp; GROUNDING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LangGraph 6-Agent Pipeline with HITL</a:t>
            </a:r>
          </a:p>
          <a:p>
            <a:pPr>
              <a:spcBef>
                <a:spcPts val="3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Specialized agents (understand, organize, analyze, identify, compare, synthesize, discover, report). Flagged evidence halts execution at HITL checkpoint. Uncited claims are pruned; search loops capped at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193792" cy="4389120"/>
          </a:xfrm>
          <a:prstGeom prst="roundRect">
            <a:avLst>
              <a:gd name="adj" fmla="val 4000"/>
            </a:avLst>
          </a:prstGeom>
          <a:solidFill>
            <a:srgbClr val="F3F7FB"/>
          </a:solidFill>
          <a:ln w="12700">
            <a:solidFill>
              <a:srgbClr val="B9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fire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501091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KEY DIFFERENTIATORS · FORENSIC STANDARD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Built for institutional credibility, not casual photo sharing.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Every technical decision in Pramaan is engineered to survive independent auditor scrutiny, corporate ESG audits, and regulatory inspection.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3035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855A"/>
                </a:solidFill>
                <a:latin typeface="Arial"/>
              </a:defRPr>
            </a:pPr>
            <a:r>
              <a:t>01 / EXPLAINABLE SCORING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Pure Transparent Math vs Black-Box AI</a:t>
            </a:r>
          </a:p>
          <a:p>
            <a:pPr>
              <a:spcBef>
                <a:spcPts val="2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8 weighted signals (P1-P3, I1-I3, R1, Q1) produce a 0-100 score. Hard cap (Score 40) on duplicates or geofence breaches. No-GPS cap (Score 79) prevents unverified claims.</a:t>
            </a:r>
          </a:p>
          <a:p>
            <a:pPr>
              <a:spcBef>
                <a:spcPts val="800"/>
              </a:spcBef>
              <a:defRPr sz="900" b="1">
                <a:solidFill>
                  <a:srgbClr val="16855A"/>
                </a:solidFill>
                <a:latin typeface="Arial"/>
              </a:defRPr>
            </a:pPr>
            <a:r>
              <a:t>02 / CODE-LEVEL FIREWALL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Zero Synthetic Pixels in Evidence</a:t>
            </a:r>
          </a:p>
          <a:p>
            <a:pPr>
              <a:spcBef>
                <a:spcPts val="2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Generative AI is quarantined to Story Studio and explicitly labelled 'AI-assisted'. Evidence delivery URLs strictly permit only deterministic redaction (e_pixelate_faces).</a:t>
            </a:r>
          </a:p>
          <a:p>
            <a:pPr>
              <a:spcBef>
                <a:spcPts val="800"/>
              </a:spcBef>
              <a:defRPr sz="900" b="1">
                <a:solidFill>
                  <a:srgbClr val="16855A"/>
                </a:solidFill>
                <a:latin typeface="Arial"/>
              </a:defRPr>
            </a:pPr>
            <a:r>
              <a:t>03 / CRYPTOGRAPHIC AUDIT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SHA-256 Hash-Chained Audit Ledger</a:t>
            </a:r>
          </a:p>
          <a:p>
            <a:pPr>
              <a:spcBef>
                <a:spcPts val="2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Every event (ingest, review, derivative, report) is linked cryptographically: entry_hash = sha256(prevHash + event + subject + payload + time). Tampering breaks the chain visibly.</a:t>
            </a:r>
          </a:p>
          <a:p>
            <a:pPr>
              <a:spcBef>
                <a:spcPts val="800"/>
              </a:spcBef>
              <a:defRPr sz="900" b="1">
                <a:solidFill>
                  <a:srgbClr val="16855A"/>
                </a:solidFill>
                <a:latin typeface="Arial"/>
              </a:defRPr>
            </a:pPr>
            <a:r>
              <a:t>04 / PUBLIC LINEAGE</a:t>
            </a:r>
          </a:p>
          <a:p>
            <a:pPr>
              <a:spcBef>
                <a:spcPts val="200"/>
              </a:spcBef>
              <a:defRPr sz="1300" b="1">
                <a:solidFill>
                  <a:srgbClr val="0F1B2B"/>
                </a:solidFill>
                <a:latin typeface="Georgia"/>
              </a:defRPr>
            </a:pPr>
            <a:r>
              <a:t>Verify QR &amp; Recipe Inspection (/verify/[id])</a:t>
            </a:r>
          </a:p>
          <a:p>
            <a:pPr>
              <a:spcBef>
                <a:spcPts val="2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Auditors scan a QR code on any published impact report to inspect the transformation recipe, SHA-256 hashes, and base parent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193792" cy="4389120"/>
          </a:xfrm>
          <a:prstGeom prst="roundRect">
            <a:avLst>
              <a:gd name="adj" fmla="val 4000"/>
            </a:avLst>
          </a:prstGeom>
          <a:solidFill>
            <a:srgbClr val="F3F7FB"/>
          </a:solidFill>
          <a:ln w="12700">
            <a:solidFill>
              <a:srgbClr val="B9C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501091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VALIDATION &amp; ROADMAP · REAL-WORLD IMPACT</a:t>
            </a:r>
          </a:p>
          <a:p>
            <a:pPr>
              <a:spcBef>
                <a:spcPts val="400"/>
              </a:spcBef>
              <a:defRPr sz="2200" b="1">
                <a:solidFill>
                  <a:srgbClr val="0F1B2B"/>
                </a:solidFill>
                <a:latin typeface="Georgia"/>
              </a:defRPr>
            </a:pPr>
            <a:r>
              <a:t>Validated against actual field fraud patterns.</a:t>
            </a:r>
          </a:p>
          <a:p>
            <a:pPr>
              <a:spcBef>
                <a:spcPts val="300"/>
              </a:spcBef>
              <a:defRPr sz="1100">
                <a:solidFill>
                  <a:srgbClr val="667B93"/>
                </a:solidFill>
                <a:latin typeface="Arial"/>
              </a:defRPr>
            </a:pPr>
            <a:r>
              <a:t>Benchmarked against real test cases from the JalSetu Foundation Check Dam JH-04 dataset, detecting 100% of synthetic, recycled, and location-spoofed assets.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75504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7183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855A"/>
                </a:solidFill>
                <a:latin typeface="Arial"/>
              </a:defRPr>
            </a:pPr>
            <a:r>
              <a:t>PROTOTYPE VALIDATION EVIDENCE</a:t>
            </a:r>
          </a:p>
          <a:p>
            <a:pPr>
              <a:spcBef>
                <a:spcPts val="400"/>
              </a:spcBef>
              <a:defRPr sz="1600" b="1">
                <a:solidFill>
                  <a:srgbClr val="0F1B2B"/>
                </a:solidFill>
                <a:latin typeface="Georgia"/>
              </a:defRPr>
            </a:pPr>
            <a:r>
              <a:t>Jhabua JH-04 Benchmark Suite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20 Seeded Evidence Test Rows: 14 verified, 2 needs review, 3 flagged, 1 rejected.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Screen Recapture Detection: Caught phone photographing screen displaying check dam (Score 40).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Perceptual Hash Deduplication: Identified recycled photo with bitwise Hamming distance 0 (Score 40).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PostGIS Geofence Containment: Flagged farm pond photo 6,327 m outside site boundaries (Score 40).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Missing Metadata Gating: Capped photo lacking EXIF GPS at 79, routing to review queue.</a:t>
            </a:r>
          </a:p>
          <a:p>
            <a:pPr>
              <a:spcBef>
                <a:spcPts val="800"/>
              </a:spcBef>
              <a:defRPr sz="1000">
                <a:solidFill>
                  <a:srgbClr val="33475F"/>
                </a:solidFill>
                <a:latin typeface="Arial"/>
              </a:defRPr>
            </a:pPr>
            <a:r>
              <a:t>•  14 Automated Checks Passing: 100% test coverage across dataset math, pHash distance, and agent graphs.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737360"/>
            <a:ext cx="5175504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1384" y="1920240"/>
            <a:ext cx="471830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35FA0"/>
                </a:solidFill>
                <a:latin typeface="Arial"/>
              </a:defRPr>
            </a:pPr>
            <a:r>
              <a:t>PRODUCTION EVOLUTION</a:t>
            </a:r>
          </a:p>
          <a:p>
            <a:pPr>
              <a:spcBef>
                <a:spcPts val="400"/>
              </a:spcBef>
              <a:defRPr sz="1600" b="1">
                <a:solidFill>
                  <a:srgbClr val="0F1B2B"/>
                </a:solidFill>
                <a:latin typeface="Georgia"/>
              </a:defRPr>
            </a:pPr>
            <a:r>
              <a:t>Built Today vs Scaled Tomorrow</a:t>
            </a:r>
          </a:p>
          <a:p>
            <a:pPr>
              <a:spcBef>
                <a:spcPts val="1000"/>
              </a:spcBef>
              <a:defRPr sz="1000" b="1">
                <a:solidFill>
                  <a:srgbClr val="0F1B2B"/>
                </a:solidFill>
                <a:latin typeface="Arial"/>
              </a:defRPr>
            </a:pPr>
            <a:r>
              <a:t>CURRENT WORKING PROTOTYPE (BUILT)</a:t>
            </a:r>
          </a:p>
          <a:p>
            <a:pPr>
              <a:spcBef>
                <a:spcPts val="3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• End-to-end evidence pipeline: Capture -&gt; Cloudinary AI -&gt; PostGIS -&gt; Gemini.</a:t>
            </a:r>
            <a:br/>
            <a:r>
              <a:t>• 8-signal explainable Trust Engine with dual hard caps.</a:t>
            </a:r>
            <a:br/>
            <a:r>
              <a:t>• Generative Firewall blocking synthetic media from evidence.</a:t>
            </a:r>
            <a:br/>
            <a:r>
              <a:t>• LangGraph 6-agent workflow with HITL and cited reports.</a:t>
            </a:r>
            <a:br/>
            <a:r>
              <a:t>• Cryptographic SHA-256 audit ledger and public QR lineage.</a:t>
            </a:r>
          </a:p>
          <a:p>
            <a:pPr>
              <a:spcBef>
                <a:spcPts val="1400"/>
              </a:spcBef>
              <a:defRPr sz="1000" b="1">
                <a:solidFill>
                  <a:srgbClr val="235FA0"/>
                </a:solidFill>
                <a:latin typeface="Arial"/>
              </a:defRPr>
            </a:pPr>
            <a:r>
              <a:t>NEXT SCALE &amp; ENTERPRISE DEPLOYMENT (PLANNED)</a:t>
            </a:r>
          </a:p>
          <a:p>
            <a:pPr>
              <a:spcBef>
                <a:spcPts val="300"/>
              </a:spcBef>
              <a:defRPr sz="950">
                <a:solidFill>
                  <a:srgbClr val="33475F"/>
                </a:solidFill>
                <a:latin typeface="Arial"/>
              </a:defRPr>
            </a:pPr>
            <a:r>
              <a:t>• Offline-first PWA sync using IndexedDB for zero-connectivity field sites.</a:t>
            </a:r>
            <a:br/>
            <a:r>
              <a:t>• Hardware-backed C2PA cryptographic signature embedding (fl_c2pa).</a:t>
            </a:r>
            <a:br/>
            <a:r>
              <a:t>• Enterprise multi-organisation tenant isolation with fine-grained RLS.</a:t>
            </a:r>
          </a:p>
          <a:p>
            <a:pPr>
              <a:spcBef>
                <a:spcPts val="1600"/>
              </a:spcBef>
              <a:defRPr sz="1100" b="1">
                <a:solidFill>
                  <a:srgbClr val="16855A"/>
                </a:solidFill>
                <a:latin typeface="Georgia"/>
              </a:defRPr>
            </a:pPr>
            <a:r>
              <a:t>Proof for every photo. Accountability for every rupee.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