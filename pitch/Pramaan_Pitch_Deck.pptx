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8EA3C4"/>
                </a:solidFill>
                <a:latin typeface="Arial"/>
              </a:defRPr>
            </a:pPr>
            <a:r>
              <a:rPr sz="900" b="0" i="0" u="none" strike="noStrike">
                <a:solidFill>
                  <a:srgbClr val="8EA3C4"/>
                </a:solidFill>
                <a:latin typeface="Arial"/>
              </a:rPr>
              <a:t>Signal weights (points)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rgbClr val="D5FDA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Perceptual-hash reuse</c:v>
                  </c:pt>
                  <c:pt idx="1">
                    <c:v>Activity claim match</c:v>
                  </c:pt>
                  <c:pt idx="2">
                    <c:v>Channel provenance</c:v>
                  </c:pt>
                  <c:pt idx="3">
                    <c:v>Geofence containment</c:v>
                  </c:pt>
                  <c:pt idx="4">
                    <c:v>Screen recapture</c:v>
                  </c:pt>
                  <c:pt idx="5">
                    <c:v>Focus and quality</c:v>
                  </c:pt>
                  <c:pt idx="6">
                    <c:v>EXIF timestamp</c:v>
                  </c:pt>
                  <c:pt idx="7">
                    <c:v>Synthetic generation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</c:v>
                </c:pt>
                <c:pt idx="1">
                  <c:v>12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6</c:v>
                </c:pt>
                <c:pt idx="6">
                  <c:v>5</c:v>
                </c:pt>
                <c:pt idx="7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B3CFF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Pramaan (प्रमाण = proof). Screens are captured from the running prototype (/capture and /prototype at phone width). Hook first: photos alone aren't proof.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on the Pramaan story page: The420.in via research notes (₹2,600 cr); MoRD circular July 2025 (manual checks, 'photographs of photographs'); National CSR Portal via The CSR Journal (₹34,909 cr); Companies (CSR Policy) Rules 2021 amendment.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Root cause: absent evidence chain, not slow reporting. Full analysis: research/03_problem_deep_dive/01_root_cause_analysis.md.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labels come from the 'Honest status' section of the Pramaan story page. Automatic before/after pairing, vegetation index, video transcripts and C2PA are designed, not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runs here. Screens: /capture at phone width, review queue card, verify card. The Review page needs Supabase reachable when demoing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Weights from lib/trust-scoring.ts. Pure math shared between the browser calculator and the server trust engine.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screenshots are the trust calculator on the story page with the preset scenarios 'Photo of a screen' and 'Recycled from an old project'.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 from the Review and ledger chapter of the story page. Ledger code: lib/ledger.ts. Review action: app/(dashboard)/review/actions.ts.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 screen: /compare/[pairId]. Search API: POST /api/search. Automatic before/after pairing and search/story screens are designed, not yet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Firewall lab is on the story page. lib/url-builder.ts assertGenerativeFirewall throws for generative steps such as e_gen_*, background removal or upscaling. Verify card: /verify/[derivativeId].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 is the pipeline chapter of the story page. Cloudinary does the inspecting; the server turns findings into a score; every decision is written down.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entry maps to a file listed in the 'Cloudinary, feature by feature' chapter: app/api/sign-upload, scripts/setup-cloudinary.ts, jobs/analyze-image.ts, lib/url-builder.ts, app/api/cloudinary/webhook, app/(dashboard)/review/actions.ts, app/api/search, app/api/stories.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Criteria from research/01_hackathon/01_event_brief.md. If the Cloudinary Next.js Starter Kit, Skills Pack, AI Power Start or MCP servers were used in the build, add them to row 1; the repo does not show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counts come straight from the app: eight signals (lib/trust-scoring.ts), seven named transformations (scripts/setup-cloudinary.ts). Add flag-rate and precision from the labeled test set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Mirrors the 'Honest status' chapter of the story page. Say where the prototype stops before the jury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QR points to the GitHub repo. Swap in a live-URL QR once the app is deployed.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CUBICLE 6.0  ·  GRAND FINAL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0350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Cloudinary track · PS-02 · Paytm, Noida · 11 October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PRAMAAN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प्रमाण  ·  proof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146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for every photo. An evidence pipeline for field media, built on Cloudinary.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520440"/>
            <a:ext cx="4572000" cy="960120"/>
          </a:xfrm>
          <a:prstGeom prst="roundRect">
            <a:avLst>
              <a:gd name="adj" fmla="val 7619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63016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83133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HoloTrio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057400" y="370332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Sanskar Tiwari  -  Team Leader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Shambhavi Patil  -  Member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Kanishka Salgude  -  Member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257800" y="548640"/>
            <a:ext cx="1716095" cy="3383280"/>
          </a:xfrm>
          <a:prstGeom prst="roundRect">
            <a:avLst>
              <a:gd name="adj" fmla="val 14919"/>
            </a:avLst>
          </a:prstGeom>
          <a:solidFill>
            <a:srgbClr val="05080F"/>
          </a:solidFill>
          <a:ln w="19050">
            <a:solidFill>
              <a:srgbClr val="3A4E72"/>
            </a:solidFill>
            <a:prstDash val="solid"/>
          </a:ln>
        </p:spPr>
      </p:sp>
      <p:pic>
        <p:nvPicPr>
          <p:cNvPr id="12" name="Image 0" descr="C:\Users\kanis\AppData\Local\Temp\claude\C--MY-MYPROJECTS-cloudinary-research\81dc3e25-ef47-422e-abdc-d451e496bb80\scratchpad/assets/mob_cap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640080"/>
            <a:ext cx="1533215" cy="320040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7111055" y="868680"/>
            <a:ext cx="1716095" cy="3383280"/>
          </a:xfrm>
          <a:prstGeom prst="roundRect">
            <a:avLst>
              <a:gd name="adj" fmla="val 14919"/>
            </a:avLst>
          </a:prstGeom>
          <a:solidFill>
            <a:srgbClr val="05080F"/>
          </a:solidFill>
          <a:ln w="19050">
            <a:solidFill>
              <a:srgbClr val="3A4E72"/>
            </a:solidFill>
            <a:prstDash val="solid"/>
          </a:ln>
        </p:spPr>
      </p:sp>
      <p:pic>
        <p:nvPicPr>
          <p:cNvPr id="14" name="Image 1" descr="C:\Users\kanis\AppData\Local\Temp\claude\C--MY-MYPROJECTS-cloudinary-research\81dc3e25-ef47-422e-abdc-d451e496bb80\scratchpad/assets/mob_pro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2495" y="960120"/>
            <a:ext cx="1533215" cy="320040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394960" y="4553712"/>
            <a:ext cx="1737360" cy="237744"/>
          </a:xfrm>
          <a:prstGeom prst="roundRect">
            <a:avLst>
              <a:gd name="adj" fmla="val 50000"/>
            </a:avLst>
          </a:prstGeom>
          <a:solidFill>
            <a:srgbClr val="E8804A"/>
          </a:solidFill>
          <a:ln w="12700">
            <a:solidFill>
              <a:srgbClr val="E8804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394960" y="455371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3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· CLOUDINARY PS-02</a:t>
            </a:r>
            <a:endParaRPr lang="en-US" sz="700" dirty="0"/>
          </a:p>
        </p:txBody>
      </p:sp>
      <p:sp>
        <p:nvSpPr>
          <p:cNvPr id="17" name="Shape 13"/>
          <p:cNvSpPr/>
          <p:nvPr/>
        </p:nvSpPr>
        <p:spPr>
          <a:xfrm>
            <a:off x="7269480" y="4553712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D5FDA1"/>
          </a:solidFill>
          <a:ln w="12700">
            <a:solidFill>
              <a:srgbClr val="D5FDA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269480" y="455371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3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PROTOTYPE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Photos alone aren't proof.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CUBICLE 6.0  ·  CLOUDINARY TRACK  ·  PRAMAAN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29260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PRAMAAN </a:t>
            </a:r>
            <a:pPr algn="r" indent="0" marL="0">
              <a:buNone/>
            </a:pPr>
            <a:r>
              <a:rPr lang="en-US" sz="100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प्रमाण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2344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Rajasthan made geotagged photos mandatory for MGNREGS attendance and uncovered fake claims. Then the fraud adapted: photos of photos, recycled images, even two dogs submitted as proof that nine people worked.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508760" cy="1600200"/>
          </a:xfrm>
          <a:prstGeom prst="roundRect">
            <a:avLst>
              <a:gd name="adj" fmla="val 4848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423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₹2,600 cr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92608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fake wage claims uncovered in Rajasthan, Nov 2024 to Jun 2025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057400" y="2240280"/>
            <a:ext cx="1508760" cy="1600200"/>
          </a:xfrm>
          <a:prstGeom prst="roundRect">
            <a:avLst>
              <a:gd name="adj" fmla="val 4848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94560" y="2423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₹34,909 cr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292608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CSR spend in FY 2023-24 across roughly 59,600 projects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0" y="2240280"/>
            <a:ext cx="1508760" cy="1600200"/>
          </a:xfrm>
          <a:prstGeom prst="roundRect">
            <a:avLst>
              <a:gd name="adj" fmla="val 4848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94760" y="2423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8(3)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3794760" y="292608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larger CSR projects need an independent impact assessment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1148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can tell a real photo from a recycled one. </a:t>
            </a:r>
            <a:pPr indent="0" marL="0">
              <a:buNone/>
            </a:pPr>
            <a:r>
              <a:rPr lang="en-US" sz="1100" b="1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chain of evidence is missing.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760720" y="1234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A2C47"/>
          </a:solidFill>
          <a:ln w="12700">
            <a:solidFill>
              <a:srgbClr val="1A2C47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88736" y="136245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400800" y="12344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Recycled images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400800" y="14813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photo reused across sites and years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76072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A2C47"/>
          </a:solidFill>
          <a:ln w="12700">
            <a:solidFill>
              <a:srgbClr val="1A2C47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8736" y="2185416"/>
            <a:ext cx="201168" cy="201168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6400800" y="2057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Photos of screens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6400800" y="23042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Recaptures pass a casual glance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5760720" y="2880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A2C47"/>
          </a:solidFill>
          <a:ln w="12700">
            <a:solidFill>
              <a:srgbClr val="1A2C47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3008376"/>
            <a:ext cx="201168" cy="201168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400800" y="28803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stripped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6400800" y="31272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 apps delete EXIF and GPS</a:t>
            </a:r>
            <a:endParaRPr lang="en-US" sz="900" dirty="0"/>
          </a:p>
        </p:txBody>
      </p:sp>
      <p:sp>
        <p:nvSpPr>
          <p:cNvPr id="30" name="Shape 25"/>
          <p:cNvSpPr/>
          <p:nvPr/>
        </p:nvSpPr>
        <p:spPr>
          <a:xfrm>
            <a:off x="5760720" y="37033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A2C47"/>
          </a:solidFill>
          <a:ln w="12700">
            <a:solidFill>
              <a:srgbClr val="1A2C47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8736" y="3831336"/>
            <a:ext cx="201168" cy="20116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6400800" y="37033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lineage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6400800" y="39502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Edited for a campaign, no link to the original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 CAUSE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media has no evidence chain.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CUBICLE 6.0  ·  CLOUDINARY TRACK  ·  PRAMAAN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29260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PRAMAAN </a:t>
            </a:r>
            <a:pPr algn="r" indent="0" marL="0">
              <a:buNone/>
            </a:pPr>
            <a:r>
              <a:rPr lang="en-US" sz="100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प्रमाण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2344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statement says reporting is slow. The real problem is that nothing links a photo to where, when and by whom it was taken, or to the report it ends up in.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5740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1B3A4A"/>
          </a:solidFill>
          <a:ln w="9525">
            <a:solidFill>
              <a:srgbClr val="1B3A4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19456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245059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taken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8803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EE8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Context, GPS, time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242316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542032" y="205740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06624" y="219456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2706624" y="245059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 stripped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706624" y="28803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provenance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4370832" y="242316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626864" y="205740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791456" y="219456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4791456" y="245059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Renamed, edited, folder-sorted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791456" y="28803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Duplicates undetected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455664" y="242316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711696" y="205740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76288" y="219456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6876288" y="245059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Pretty campaign asset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876288" y="28803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to original lost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566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36758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costs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rebuilding donor reports that nobody fully trusts. Beneficiary photos, often of children, also need consent under the DPDP Act, so faces must be handled by default, not by exception.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photo. Seven pillars. Full proof.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CUBICLE 6.0  ·  CLOUDINARY TRACK  ·  PRAMAAN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29260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PRAMAAN </a:t>
            </a:r>
            <a:pPr algn="r" indent="0" marL="0">
              <a:buNone/>
            </a:pPr>
            <a:r>
              <a:rPr lang="en-US" sz="100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प्रमाण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1920240" cy="1554480"/>
          </a:xfrm>
          <a:prstGeom prst="roundRect">
            <a:avLst>
              <a:gd name="adj" fmla="val 4706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41732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D5FDA1"/>
          </a:solidFill>
          <a:ln w="12700">
            <a:solidFill>
              <a:srgbClr val="D5FDA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532" y="1509492"/>
            <a:ext cx="144841" cy="144841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05840" y="1463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184708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SHA-256, GPS, activity and phase are locked into a signed direct upload to Cloudinary.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94360" y="2560320"/>
            <a:ext cx="640080" cy="182880"/>
          </a:xfrm>
          <a:prstGeom prst="roundRect">
            <a:avLst>
              <a:gd name="adj" fmla="val 50000"/>
            </a:avLst>
          </a:prstGeom>
          <a:solidFill>
            <a:srgbClr val="D5FDA1"/>
          </a:solidFill>
          <a:ln w="6350">
            <a:solidFill>
              <a:srgbClr val="D5FDA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4360" y="25603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03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650" dirty="0"/>
          </a:p>
        </p:txBody>
      </p:sp>
      <p:sp>
        <p:nvSpPr>
          <p:cNvPr id="14" name="Shape 11"/>
          <p:cNvSpPr/>
          <p:nvPr/>
        </p:nvSpPr>
        <p:spPr>
          <a:xfrm>
            <a:off x="2542032" y="1280160"/>
            <a:ext cx="1920240" cy="1554480"/>
          </a:xfrm>
          <a:prstGeom prst="roundRect">
            <a:avLst>
              <a:gd name="adj" fmla="val 4706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679192" y="141732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D5FDA1"/>
          </a:solidFill>
          <a:ln w="12700">
            <a:solidFill>
              <a:srgbClr val="D5FDA1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364" y="1509492"/>
            <a:ext cx="144841" cy="144841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090672" y="1463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2679192" y="184708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Cloudinary AI Vision reads the photo in a fixed JSON schema: activity, people, recapture and synthetic cues.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2679192" y="2560320"/>
            <a:ext cx="640080" cy="182880"/>
          </a:xfrm>
          <a:prstGeom prst="roundRect">
            <a:avLst>
              <a:gd name="adj" fmla="val 50000"/>
            </a:avLst>
          </a:prstGeom>
          <a:solidFill>
            <a:srgbClr val="D5FDA1"/>
          </a:solidFill>
          <a:ln w="6350">
            <a:solidFill>
              <a:srgbClr val="D5FDA1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2679192" y="25603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03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650" dirty="0"/>
          </a:p>
        </p:txBody>
      </p:sp>
      <p:sp>
        <p:nvSpPr>
          <p:cNvPr id="21" name="Shape 17"/>
          <p:cNvSpPr/>
          <p:nvPr/>
        </p:nvSpPr>
        <p:spPr>
          <a:xfrm>
            <a:off x="4626864" y="1280160"/>
            <a:ext cx="1920240" cy="1554480"/>
          </a:xfrm>
          <a:prstGeom prst="roundRect">
            <a:avLst>
              <a:gd name="adj" fmla="val 4706"/>
            </a:avLst>
          </a:prstGeom>
          <a:solidFill>
            <a:srgbClr val="D5FDA1"/>
          </a:solidFill>
          <a:ln w="9525">
            <a:solidFill>
              <a:srgbClr val="D5FDA1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764024" y="141732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031F33"/>
          </a:solidFill>
          <a:ln w="12700">
            <a:solidFill>
              <a:srgbClr val="031F33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6196" y="1509492"/>
            <a:ext cx="144841" cy="144841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175504" y="1463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4764024" y="184708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03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Eight-signal Trust Score, PostGIS geofence and pHash reuse routes each photo to Verified, Review or Flagged.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764024" y="2560320"/>
            <a:ext cx="640080" cy="182880"/>
          </a:xfrm>
          <a:prstGeom prst="roundRect">
            <a:avLst>
              <a:gd name="adj" fmla="val 50000"/>
            </a:avLst>
          </a:prstGeom>
          <a:solidFill>
            <a:srgbClr val="D5FDA1"/>
          </a:solidFill>
          <a:ln w="6350">
            <a:solidFill>
              <a:srgbClr val="D5FDA1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4764024" y="25603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03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650" dirty="0"/>
          </a:p>
        </p:txBody>
      </p:sp>
      <p:sp>
        <p:nvSpPr>
          <p:cNvPr id="28" name="Shape 23"/>
          <p:cNvSpPr/>
          <p:nvPr/>
        </p:nvSpPr>
        <p:spPr>
          <a:xfrm>
            <a:off x="6711696" y="1280160"/>
            <a:ext cx="1920240" cy="1554480"/>
          </a:xfrm>
          <a:prstGeom prst="roundRect">
            <a:avLst>
              <a:gd name="adj" fmla="val 4706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6848856" y="141732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D5FDA1"/>
          </a:solidFill>
          <a:ln w="12700">
            <a:solidFill>
              <a:srgbClr val="D5FDA1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1028" y="1509492"/>
            <a:ext cx="144841" cy="144841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260336" y="1463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6848856" y="184708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plans a query, the server whitelists it, Cloudinary Search runs it.</a:t>
            </a:r>
            <a:endParaRPr lang="en-US" sz="850" dirty="0"/>
          </a:p>
        </p:txBody>
      </p:sp>
      <p:sp>
        <p:nvSpPr>
          <p:cNvPr id="33" name="Shape 27"/>
          <p:cNvSpPr/>
          <p:nvPr/>
        </p:nvSpPr>
        <p:spPr>
          <a:xfrm>
            <a:off x="6848856" y="2560320"/>
            <a:ext cx="1371600" cy="182880"/>
          </a:xfrm>
          <a:prstGeom prst="roundRect">
            <a:avLst>
              <a:gd name="adj" fmla="val 50000"/>
            </a:avLst>
          </a:prstGeom>
          <a:solidFill>
            <a:srgbClr val="223756"/>
          </a:solidFill>
          <a:ln w="6350">
            <a:solidFill>
              <a:srgbClr val="3A4E72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6848856" y="256032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BUILT · UI NEXT</a:t>
            </a:r>
            <a:endParaRPr lang="en-US" sz="650" dirty="0"/>
          </a:p>
        </p:txBody>
      </p:sp>
      <p:sp>
        <p:nvSpPr>
          <p:cNvPr id="35" name="Shape 29"/>
          <p:cNvSpPr/>
          <p:nvPr/>
        </p:nvSpPr>
        <p:spPr>
          <a:xfrm>
            <a:off x="457200" y="2971800"/>
            <a:ext cx="1920240" cy="1554480"/>
          </a:xfrm>
          <a:prstGeom prst="roundRect">
            <a:avLst>
              <a:gd name="adj" fmla="val 4706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594360" y="310896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D5FDA1"/>
          </a:solidFill>
          <a:ln w="12700">
            <a:solidFill>
              <a:srgbClr val="D5FDA1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532" y="3201132"/>
            <a:ext cx="144841" cy="144841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1005840" y="3154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</a:t>
            </a:r>
            <a:endParaRPr lang="en-US" sz="1300" dirty="0"/>
          </a:p>
        </p:txBody>
      </p:sp>
      <p:sp>
        <p:nvSpPr>
          <p:cNvPr id="39" name="Text 32"/>
          <p:cNvSpPr txBox="1"/>
          <p:nvPr/>
        </p:nvSpPr>
        <p:spPr>
          <a:xfrm>
            <a:off x="594360" y="353872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a slider across two verified photos, or share one composite URL.</a:t>
            </a:r>
            <a:endParaRPr lang="en-US" sz="850" dirty="0"/>
          </a:p>
        </p:txBody>
      </p:sp>
      <p:sp>
        <p:nvSpPr>
          <p:cNvPr id="40" name="Shape 33"/>
          <p:cNvSpPr/>
          <p:nvPr/>
        </p:nvSpPr>
        <p:spPr>
          <a:xfrm>
            <a:off x="594360" y="4251960"/>
            <a:ext cx="1371600" cy="182880"/>
          </a:xfrm>
          <a:prstGeom prst="roundRect">
            <a:avLst>
              <a:gd name="adj" fmla="val 50000"/>
            </a:avLst>
          </a:prstGeom>
          <a:solidFill>
            <a:srgbClr val="D5FDA1"/>
          </a:solidFill>
          <a:ln w="6350">
            <a:solidFill>
              <a:srgbClr val="D5FDA1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594360" y="42519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03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· AUTO-PAIR NEXT</a:t>
            </a:r>
            <a:endParaRPr lang="en-US" sz="650" dirty="0"/>
          </a:p>
        </p:txBody>
      </p:sp>
      <p:sp>
        <p:nvSpPr>
          <p:cNvPr id="42" name="Shape 35"/>
          <p:cNvSpPr/>
          <p:nvPr/>
        </p:nvSpPr>
        <p:spPr>
          <a:xfrm>
            <a:off x="2542032" y="2971800"/>
            <a:ext cx="1920240" cy="1554480"/>
          </a:xfrm>
          <a:prstGeom prst="roundRect">
            <a:avLst>
              <a:gd name="adj" fmla="val 4706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2679192" y="310896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D5FDA1"/>
          </a:solidFill>
          <a:ln w="12700">
            <a:solidFill>
              <a:srgbClr val="D5FDA1"/>
            </a:solidFill>
            <a:prstDash val="solid"/>
          </a:ln>
        </p:spPr>
      </p:sp>
      <p:pic>
        <p:nvPicPr>
          <p:cNvPr id="4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71364" y="3201132"/>
            <a:ext cx="144841" cy="144841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3090672" y="3154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</a:t>
            </a:r>
            <a:endParaRPr lang="en-US" sz="1300" dirty="0"/>
          </a:p>
        </p:txBody>
      </p:sp>
      <p:sp>
        <p:nvSpPr>
          <p:cNvPr id="46" name="Text 38"/>
          <p:cNvSpPr txBox="1"/>
          <p:nvPr/>
        </p:nvSpPr>
        <p:spPr>
          <a:xfrm>
            <a:off x="2679192" y="353872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Evidence-cited reports and Cloudinary PDF packs.</a:t>
            </a:r>
            <a:endParaRPr lang="en-US" sz="850" dirty="0"/>
          </a:p>
        </p:txBody>
      </p:sp>
      <p:sp>
        <p:nvSpPr>
          <p:cNvPr id="47" name="Shape 39"/>
          <p:cNvSpPr/>
          <p:nvPr/>
        </p:nvSpPr>
        <p:spPr>
          <a:xfrm>
            <a:off x="2679192" y="4251960"/>
            <a:ext cx="1371600" cy="182880"/>
          </a:xfrm>
          <a:prstGeom prst="roundRect">
            <a:avLst>
              <a:gd name="adj" fmla="val 50000"/>
            </a:avLst>
          </a:prstGeom>
          <a:solidFill>
            <a:srgbClr val="223756"/>
          </a:solidFill>
          <a:ln w="6350">
            <a:solidFill>
              <a:srgbClr val="3A4E72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2679192" y="42519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BUILT · UI NEXT</a:t>
            </a:r>
            <a:endParaRPr lang="en-US" sz="650" dirty="0"/>
          </a:p>
        </p:txBody>
      </p:sp>
      <p:sp>
        <p:nvSpPr>
          <p:cNvPr id="49" name="Shape 41"/>
          <p:cNvSpPr/>
          <p:nvPr/>
        </p:nvSpPr>
        <p:spPr>
          <a:xfrm>
            <a:off x="4626864" y="2971800"/>
            <a:ext cx="1920240" cy="1554480"/>
          </a:xfrm>
          <a:prstGeom prst="roundRect">
            <a:avLst>
              <a:gd name="adj" fmla="val 4706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50" name="Shape 42"/>
          <p:cNvSpPr/>
          <p:nvPr/>
        </p:nvSpPr>
        <p:spPr>
          <a:xfrm>
            <a:off x="4764024" y="310896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D5FDA1"/>
          </a:solidFill>
          <a:ln w="12700">
            <a:solidFill>
              <a:srgbClr val="D5FDA1"/>
            </a:solidFill>
            <a:prstDash val="solid"/>
          </a:ln>
        </p:spPr>
      </p:sp>
      <p:pic>
        <p:nvPicPr>
          <p:cNvPr id="5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56196" y="3201132"/>
            <a:ext cx="144841" cy="144841"/>
          </a:xfrm>
          <a:prstGeom prst="rect">
            <a:avLst/>
          </a:prstGeom>
        </p:spPr>
      </p:pic>
      <p:sp>
        <p:nvSpPr>
          <p:cNvPr id="52" name="Text 43"/>
          <p:cNvSpPr txBox="1"/>
          <p:nvPr/>
        </p:nvSpPr>
        <p:spPr>
          <a:xfrm>
            <a:off x="5175504" y="3154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</a:t>
            </a:r>
            <a:endParaRPr lang="en-US" sz="1300" dirty="0"/>
          </a:p>
        </p:txBody>
      </p:sp>
      <p:sp>
        <p:nvSpPr>
          <p:cNvPr id="53" name="Text 44"/>
          <p:cNvSpPr txBox="1"/>
          <p:nvPr/>
        </p:nvSpPr>
        <p:spPr>
          <a:xfrm>
            <a:off x="4764024" y="353872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Hash-chained ledger and a Verify page behind every QR.</a:t>
            </a:r>
            <a:endParaRPr lang="en-US" sz="850" dirty="0"/>
          </a:p>
        </p:txBody>
      </p:sp>
      <p:sp>
        <p:nvSpPr>
          <p:cNvPr id="54" name="Shape 45"/>
          <p:cNvSpPr/>
          <p:nvPr/>
        </p:nvSpPr>
        <p:spPr>
          <a:xfrm>
            <a:off x="4764024" y="4251960"/>
            <a:ext cx="640080" cy="182880"/>
          </a:xfrm>
          <a:prstGeom prst="roundRect">
            <a:avLst>
              <a:gd name="adj" fmla="val 50000"/>
            </a:avLst>
          </a:prstGeom>
          <a:solidFill>
            <a:srgbClr val="D5FDA1"/>
          </a:solidFill>
          <a:ln w="6350">
            <a:solidFill>
              <a:srgbClr val="D5FDA1"/>
            </a:solidFill>
            <a:prstDash val="solid"/>
          </a:ln>
        </p:spPr>
      </p:sp>
      <p:sp>
        <p:nvSpPr>
          <p:cNvPr id="55" name="Text 46"/>
          <p:cNvSpPr txBox="1"/>
          <p:nvPr/>
        </p:nvSpPr>
        <p:spPr>
          <a:xfrm>
            <a:off x="4764024" y="425196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03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650" dirty="0"/>
          </a:p>
        </p:txBody>
      </p:sp>
      <p:sp>
        <p:nvSpPr>
          <p:cNvPr id="56" name="Text 47"/>
          <p:cNvSpPr txBox="1"/>
          <p:nvPr/>
        </p:nvSpPr>
        <p:spPr>
          <a:xfrm>
            <a:off x="6803136" y="32918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field photo to verified impact.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pixel traceable.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· LIVE PROTOTYPE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Capture, decide, verify.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CUBICLE 6.0  ·  CLOUDINARY TRACK  ·  PRAMAAN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29260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PRAMAAN </a:t>
            </a:r>
            <a:pPr algn="r" indent="0" marL="0">
              <a:buNone/>
            </a:pPr>
            <a:r>
              <a:rPr lang="en-US" sz="100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प्रमाण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E88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2435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645920"/>
            <a:ext cx="1343743" cy="2606040"/>
          </a:xfrm>
          <a:prstGeom prst="roundRect">
            <a:avLst>
              <a:gd name="adj" fmla="val 19054"/>
            </a:avLst>
          </a:prstGeom>
          <a:solidFill>
            <a:srgbClr val="05080F"/>
          </a:solidFill>
          <a:ln w="19050">
            <a:solidFill>
              <a:srgbClr val="3A4E72"/>
            </a:solidFill>
            <a:prstDash val="solid"/>
          </a:ln>
        </p:spPr>
      </p:sp>
      <p:pic>
        <p:nvPicPr>
          <p:cNvPr id="10" name="Image 0" descr="C:\Users\kanis\AppData\Local\Temp\claude\C--MY-MYPROJECTS-cloudinary-research\81dc3e25-ef47-422e-abdc-d451e496bb80\scratchpad/assets/mob_cap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1160863" cy="242316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457200" y="4343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Hash, GPS, activity and phase are signed, then the photo goes straight to Cloudinary.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3291840" y="1188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E88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3840480" y="12435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queue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264408" y="1664208"/>
            <a:ext cx="2706624" cy="1552805"/>
          </a:xfrm>
          <a:prstGeom prst="roundRect">
            <a:avLst>
              <a:gd name="adj" fmla="val 3533"/>
            </a:avLst>
          </a:prstGeom>
          <a:solidFill>
            <a:srgbClr val="223756"/>
          </a:solidFill>
          <a:ln w="6350">
            <a:solidFill>
              <a:srgbClr val="223756"/>
            </a:solidFill>
            <a:prstDash val="solid"/>
          </a:ln>
        </p:spPr>
      </p:sp>
      <p:pic>
        <p:nvPicPr>
          <p:cNvPr id="15" name="Image 1" descr="C:\Users\kanis\AppData\Local\Temp\claude\C--MY-MYPROJECTS-cloudinary-research\81dc3e25-ef47-422e-abdc-d451e496bb80\scratchpad/assets/que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691640"/>
            <a:ext cx="2651760" cy="1497941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29184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Worst first, with the reason on screen. V verifies, R rejects.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3291840" y="3931920"/>
            <a:ext cx="2651760" cy="548640"/>
          </a:xfrm>
          <a:prstGeom prst="roundRect">
            <a:avLst>
              <a:gd name="adj" fmla="val 13333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429000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decision is written to the ledger.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6217920" y="1188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E88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6766560" y="12435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6190488" y="1664208"/>
            <a:ext cx="2523744" cy="877824"/>
          </a:xfrm>
          <a:prstGeom prst="roundRect">
            <a:avLst>
              <a:gd name="adj" fmla="val 6250"/>
            </a:avLst>
          </a:prstGeom>
          <a:solidFill>
            <a:srgbClr val="223756"/>
          </a:solidFill>
          <a:ln w="6350">
            <a:solidFill>
              <a:srgbClr val="223756"/>
            </a:solidFill>
            <a:prstDash val="solid"/>
          </a:ln>
        </p:spPr>
      </p:sp>
      <p:pic>
        <p:nvPicPr>
          <p:cNvPr id="22" name="Image 2" descr="C:\Users\kanis\AppData\Local\Temp\claude\C--MY-MYPROJECTS-cloudinary-research\81dc3e25-ef47-422e-abdc-d451e496bb80\scratchpad/assets/verif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91640"/>
            <a:ext cx="2468880" cy="8229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6217920" y="28346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the QR on any output. The page shows the recipe, its class, the client hash and the trust score.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6217920" y="365760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355080" y="37490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are captured from the running app, not mockups.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score you can argue with.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CUBICLE 6.0  ·  CLOUDINARY TRACK  ·  PRAMAAN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29260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PRAMAAN </a:t>
            </a:r>
            <a:pPr algn="r" indent="0" marL="0">
              <a:buNone/>
            </a:pPr>
            <a:r>
              <a:rPr lang="en-US" sz="100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प्रमाण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20040" y="1188720"/>
          <a:ext cx="38404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4315968" y="1252728"/>
            <a:ext cx="4398264" cy="2191817"/>
          </a:xfrm>
          <a:prstGeom prst="roundRect">
            <a:avLst>
              <a:gd name="adj" fmla="val 2503"/>
            </a:avLst>
          </a:prstGeom>
          <a:solidFill>
            <a:srgbClr val="223756"/>
          </a:solidFill>
          <a:ln w="6350">
            <a:solidFill>
              <a:srgbClr val="223756"/>
            </a:solidFill>
            <a:prstDash val="solid"/>
          </a:ln>
        </p:spPr>
      </p:sp>
      <p:pic>
        <p:nvPicPr>
          <p:cNvPr id="9" name="Image 0" descr="C:\Users\kanis\AppData\Local\Temp\claude\C--MY-MYPROJECTS-cloudinary-research\81dc3e25-ef47-422e-abdc-d451e496bb80\scratchpad/assets/trust_cle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280160"/>
            <a:ext cx="4343400" cy="213695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343400" y="3508553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calculator from the story page. It runs the same scoring module as the server.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4343400" y="3703320"/>
            <a:ext cx="2103120" cy="777240"/>
          </a:xfrm>
          <a:prstGeom prst="roundRect">
            <a:avLst>
              <a:gd name="adj" fmla="val 9412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480560" y="37673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flags beat averages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480560" y="398678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reused or recaptured photo caps at 40.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6583680" y="3703320"/>
            <a:ext cx="2103120" cy="777240"/>
          </a:xfrm>
          <a:prstGeom prst="roundRect">
            <a:avLst>
              <a:gd name="adj" fmla="val 9412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720840" y="37673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GPS, no auto-verify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6720840" y="398678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EXIF GPS the score stops at 79.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· LIVE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Fraud, caught by a hard cap.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CUBICLE 6.0  ·  CLOUDINARY TRACK  ·  PRAMAAN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29260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PRAMAAN </a:t>
            </a:r>
            <a:pPr algn="r" indent="0" marL="0">
              <a:buNone/>
            </a:pPr>
            <a:r>
              <a:rPr lang="en-US" sz="100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प्रमाण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of a screen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1143000" cy="237744"/>
          </a:xfrm>
          <a:prstGeom prst="roundRect">
            <a:avLst>
              <a:gd name="adj" fmla="val 50000"/>
            </a:avLst>
          </a:prstGeom>
          <a:solidFill>
            <a:srgbClr val="FF7A8A"/>
          </a:solidFill>
          <a:ln w="12700">
            <a:solidFill>
              <a:srgbClr val="FF7A8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46120" y="118872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FLAGGED · 40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29768" y="1527048"/>
            <a:ext cx="3986784" cy="1989369"/>
          </a:xfrm>
          <a:prstGeom prst="roundRect">
            <a:avLst>
              <a:gd name="adj" fmla="val 2758"/>
            </a:avLst>
          </a:prstGeom>
          <a:solidFill>
            <a:srgbClr val="223756"/>
          </a:solidFill>
          <a:ln w="6350">
            <a:solidFill>
              <a:srgbClr val="223756"/>
            </a:solidFill>
            <a:prstDash val="solid"/>
          </a:ln>
        </p:spPr>
      </p:sp>
      <p:pic>
        <p:nvPicPr>
          <p:cNvPr id="11" name="Image 0" descr="C:\Users\kanis\AppData\Local\Temp\claude\C--MY-MYPROJECTS-cloudinary-research\81dc3e25-ef47-422e-abdc-d451e496bb80\scratchpad/assets/trust_sc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3931920" cy="193450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3703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Suspected recapture (moiré, bezels) caps the score at 40.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466344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Recycled from an old project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52360" y="1188720"/>
            <a:ext cx="1143000" cy="237744"/>
          </a:xfrm>
          <a:prstGeom prst="roundRect">
            <a:avLst>
              <a:gd name="adj" fmla="val 50000"/>
            </a:avLst>
          </a:prstGeom>
          <a:solidFill>
            <a:srgbClr val="FF7A8A"/>
          </a:solidFill>
          <a:ln w="12700">
            <a:solidFill>
              <a:srgbClr val="FF7A8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452360" y="118872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FLAGGED · 40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636008" y="1527048"/>
            <a:ext cx="3986784" cy="1989369"/>
          </a:xfrm>
          <a:prstGeom prst="roundRect">
            <a:avLst>
              <a:gd name="adj" fmla="val 2758"/>
            </a:avLst>
          </a:prstGeom>
          <a:solidFill>
            <a:srgbClr val="223756"/>
          </a:solidFill>
          <a:ln w="6350">
            <a:solidFill>
              <a:srgbClr val="223756"/>
            </a:solidFill>
            <a:prstDash val="solid"/>
          </a:ln>
        </p:spPr>
      </p:sp>
      <p:pic>
        <p:nvPicPr>
          <p:cNvPr id="17" name="Image 1" descr="C:\Users\kanis\AppData\Local\Temp\claude\C--MY-MYPROJECTS-cloudinary-research\81dc3e25-ef47-422e-abdc-d451e496bb80\scratchpad/assets/trust_recycl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54480"/>
            <a:ext cx="3931920" cy="193450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663440" y="3703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Reused pHash (≤4 bits apart) caps the score at 40.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457200" y="4069080"/>
            <a:ext cx="8138160" cy="548640"/>
          </a:xfrm>
          <a:prstGeom prst="roundRect">
            <a:avLst>
              <a:gd name="adj" fmla="val 13333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" y="40690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 for staff is "needs review", never "fake". The reason is always shown, and one damning signal cannot be diluted by seven clean ones.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LEDGER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decide. The record can't be quietly rewritten.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CUBICLE 6.0  ·  CLOUDINARY TRACK  ·  PRAMAAN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29260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PRAMAAN </a:t>
            </a:r>
            <a:pPr algn="r" indent="0" marL="0">
              <a:buNone/>
            </a:pPr>
            <a:r>
              <a:rPr lang="en-US" sz="100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प्रमाण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2344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keypress, four writes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" y="1527048"/>
            <a:ext cx="3545329" cy="2066544"/>
          </a:xfrm>
          <a:prstGeom prst="roundRect">
            <a:avLst>
              <a:gd name="adj" fmla="val 2655"/>
            </a:avLst>
          </a:prstGeom>
          <a:solidFill>
            <a:srgbClr val="223756"/>
          </a:solidFill>
          <a:ln w="6350">
            <a:solidFill>
              <a:srgbClr val="223756"/>
            </a:solidFill>
            <a:prstDash val="solid"/>
          </a:ln>
        </p:spPr>
      </p:sp>
      <p:pic>
        <p:nvPicPr>
          <p:cNvPr id="9" name="Image 0" descr="C:\Users\kanis\AppData\Local\Temp\claude\C--MY-MYPROJECTS-cloudinary-research\81dc3e25-ef47-422e-abdc-d451e496bb80\scratchpad/assets/deci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3490465" cy="20116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57200" y="37033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status, review row, ledger entry and Cloudinary moderation stay in step. If Cloudinary is unreachable, the decision still stands and the reviewer is warned.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12344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Ledger, recomputed in the browser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636008" y="1527048"/>
            <a:ext cx="3169310" cy="2432304"/>
          </a:xfrm>
          <a:prstGeom prst="roundRect">
            <a:avLst>
              <a:gd name="adj" fmla="val 2256"/>
            </a:avLst>
          </a:prstGeom>
          <a:solidFill>
            <a:srgbClr val="223756"/>
          </a:solidFill>
          <a:ln w="6350">
            <a:solidFill>
              <a:srgbClr val="223756"/>
            </a:solidFill>
            <a:prstDash val="solid"/>
          </a:ln>
        </p:spPr>
      </p:sp>
      <p:pic>
        <p:nvPicPr>
          <p:cNvPr id="13" name="Image 1" descr="C:\Users\kanis\AppData\Local\Temp\claude\C--MY-MYPROJECTS-cloudinary-research\81dc3e25-ef47-422e-abdc-d451e496bb80\scratchpad/assets/ledg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54480"/>
            <a:ext cx="3114446" cy="23774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663440" y="40690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entry hashes its payload and the previous entry. Edit any record and the chain breaks visibly.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OVER TIME · DISCOVER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place, two dates. Ask in plain words.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CUBICLE 6.0  ·  CLOUDINARY TRACK  ·  PRAMAAN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29260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PRAMAAN </a:t>
            </a:r>
            <a:pPr algn="r" indent="0" marL="0">
              <a:buNone/>
            </a:pPr>
            <a:r>
              <a:rPr lang="en-US" sz="100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प्रमाण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23444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across two verified photos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" y="1527048"/>
            <a:ext cx="3428159" cy="2295144"/>
          </a:xfrm>
          <a:prstGeom prst="roundRect">
            <a:avLst>
              <a:gd name="adj" fmla="val 2390"/>
            </a:avLst>
          </a:prstGeom>
          <a:solidFill>
            <a:srgbClr val="223756"/>
          </a:solidFill>
          <a:ln w="6350">
            <a:solidFill>
              <a:srgbClr val="223756"/>
            </a:solidFill>
            <a:prstDash val="solid"/>
          </a:ln>
        </p:spPr>
      </p:sp>
      <p:pic>
        <p:nvPicPr>
          <p:cNvPr id="9" name="Image 0" descr="C:\Users\kanis\AppData\Local\Temp\claude\C--MY-MYPROJECTS-cloudinary-research\81dc3e25-ef47-422e-abdc-d451e496bb80\scratchpad/assets/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3373295" cy="22402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57200" y="38862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photos are checked to be from the same site, cropped around the subject (c_fill, g_auto) and served as f_auto, q_auto. Demo photos come from Cloudinary's sample cloud.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12344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plans, the server checks, Cloudinary searches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636008" y="1527048"/>
            <a:ext cx="3507531" cy="2295144"/>
          </a:xfrm>
          <a:prstGeom prst="roundRect">
            <a:avLst>
              <a:gd name="adj" fmla="val 2390"/>
            </a:avLst>
          </a:prstGeom>
          <a:solidFill>
            <a:srgbClr val="223756"/>
          </a:solidFill>
          <a:ln w="6350">
            <a:solidFill>
              <a:srgbClr val="223756"/>
            </a:solidFill>
            <a:prstDash val="solid"/>
          </a:ln>
        </p:spPr>
      </p:sp>
      <p:pic>
        <p:nvPicPr>
          <p:cNvPr id="13" name="Image 1" descr="C:\Users\kanis\AppData\Local\Temp\claude\C--MY-MYPROJECTS-cloudinary-research\81dc3e25-ef47-422e-abdc-d451e496bb80\scratchpad/assets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54480"/>
            <a:ext cx="3452667" cy="224028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663440" y="38862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sentence becomes a Zod-validated plan. The server keeps only allowlisted fields and values before building the Cloudinary Search expression, so the model can suggest a query but cannot inject one.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GenAI can make a campaign prettier.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 never make evidence.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CUBICLE 6.0  ·  CLOUDINARY TRACK  ·  PRAMAAN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29260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PRAMAAN </a:t>
            </a:r>
            <a:pPr algn="r" indent="0" marL="0">
              <a:buNone/>
            </a:pPr>
            <a:r>
              <a:rPr lang="en-US" sz="100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प्रमाण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9768" y="1755648"/>
            <a:ext cx="5175504" cy="1990466"/>
          </a:xfrm>
          <a:prstGeom prst="roundRect">
            <a:avLst>
              <a:gd name="adj" fmla="val 2756"/>
            </a:avLst>
          </a:prstGeom>
          <a:solidFill>
            <a:srgbClr val="223756"/>
          </a:solidFill>
          <a:ln w="6350">
            <a:solidFill>
              <a:srgbClr val="223756"/>
            </a:solidFill>
            <a:prstDash val="solid"/>
          </a:ln>
        </p:spPr>
      </p:sp>
      <p:pic>
        <p:nvPicPr>
          <p:cNvPr id="8" name="Image 0" descr="C:\Users\kanis\AppData\Local\Temp\claude\C--MY-MYPROJECTS-cloudinary-research\81dc3e25-ef47-422e-abdc-d451e496bb80\scratchpad/assets/fw_g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3080"/>
            <a:ext cx="5120640" cy="193560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0233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transformation. The classifier labels it, and the evidence layer refuses generative ones.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806440" y="1783080"/>
            <a:ext cx="2880360" cy="384048"/>
          </a:xfrm>
          <a:prstGeom prst="roundRect">
            <a:avLst>
              <a:gd name="adj" fmla="val 19048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943600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EE8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transcoded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17830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Format, size, quality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5806440" y="2240280"/>
            <a:ext cx="2880360" cy="384048"/>
          </a:xfrm>
          <a:prstGeom prst="roundRect">
            <a:avLst>
              <a:gd name="adj" fmla="val 19048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43600" y="22402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2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redacted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086600" y="22402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Faces pixelated, consent-aware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5806440" y="2697480"/>
            <a:ext cx="2880360" cy="384048"/>
          </a:xfrm>
          <a:prstGeom prst="roundRect">
            <a:avLst>
              <a:gd name="adj" fmla="val 19048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0" y="26974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edited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7086600" y="2697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Crop, overlay, composite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5806440" y="3154680"/>
            <a:ext cx="2880360" cy="384048"/>
          </a:xfrm>
          <a:prstGeom prst="roundRect">
            <a:avLst>
              <a:gd name="adj" fmla="val 19048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0" y="31546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ai_generated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7086600" y="31546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Studio only, labeled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5779008" y="3630168"/>
            <a:ext cx="2660904" cy="923544"/>
          </a:xfrm>
          <a:prstGeom prst="roundRect">
            <a:avLst>
              <a:gd name="adj" fmla="val 5941"/>
            </a:avLst>
          </a:prstGeom>
          <a:solidFill>
            <a:srgbClr val="223756"/>
          </a:solidFill>
          <a:ln w="6350">
            <a:solidFill>
              <a:srgbClr val="223756"/>
            </a:solidFill>
            <a:prstDash val="solid"/>
          </a:ln>
        </p:spPr>
      </p:sp>
      <p:pic>
        <p:nvPicPr>
          <p:cNvPr id="23" name="Image 1" descr="C:\Users\kanis\AppData\Local\Temp\claude\C--MY-MYPROJECTS-cloudinary-research\81dc3e25-ef47-422e-abdc-d451e496bb80\scratchpad/assets/verif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3657600"/>
            <a:ext cx="260604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Cloudinary is the evidence engine, not a bucket.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CUBICLE 6.0  ·  CLOUDINARY TRACK  ·  PRAMAAN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29260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PRAMAAN </a:t>
            </a:r>
            <a:pPr algn="r" indent="0" marL="0">
              <a:buNone/>
            </a:pPr>
            <a:r>
              <a:rPr lang="en-US" sz="100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प्रमाण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9768" y="1252728"/>
            <a:ext cx="5266944" cy="2316907"/>
          </a:xfrm>
          <a:prstGeom prst="roundRect">
            <a:avLst>
              <a:gd name="adj" fmla="val 2368"/>
            </a:avLst>
          </a:prstGeom>
          <a:solidFill>
            <a:srgbClr val="223756"/>
          </a:solidFill>
          <a:ln w="6350">
            <a:solidFill>
              <a:srgbClr val="223756"/>
            </a:solidFill>
            <a:prstDash val="solid"/>
          </a:ln>
        </p:spPr>
      </p:sp>
      <p:pic>
        <p:nvPicPr>
          <p:cNvPr id="8" name="Image 0" descr="C:\Users\kanis\AppData\Local\Temp\claude\C--MY-MYPROJECTS-cloudinary-research\81dc3e25-ef47-422e-abdc-d451e496bb80\scratchpad/assets/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5212080" cy="226204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852160" y="1280160"/>
            <a:ext cx="2834640" cy="585216"/>
          </a:xfrm>
          <a:prstGeom prst="roundRect">
            <a:avLst>
              <a:gd name="adj" fmla="val 12500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89320" y="134416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CLOUDINARY</a:t>
            </a:r>
            <a:endParaRPr lang="en-US" sz="750" dirty="0"/>
          </a:p>
        </p:txBody>
      </p:sp>
      <p:sp>
        <p:nvSpPr>
          <p:cNvPr id="11" name="Text 8"/>
          <p:cNvSpPr txBox="1"/>
          <p:nvPr/>
        </p:nvSpPr>
        <p:spPr>
          <a:xfrm>
            <a:off x="5989320" y="1517904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uploads, eval gate, AI Vision, pHash, named transforms, search, moderation, PDF packs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5852160" y="1938528"/>
            <a:ext cx="2834640" cy="585216"/>
          </a:xfrm>
          <a:prstGeom prst="roundRect">
            <a:avLst>
              <a:gd name="adj" fmla="val 12500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89320" y="20025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F0A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750" dirty="0"/>
          </a:p>
        </p:txBody>
      </p:sp>
      <p:sp>
        <p:nvSpPr>
          <p:cNvPr id="14" name="Text 11"/>
          <p:cNvSpPr txBox="1"/>
          <p:nvPr/>
        </p:nvSpPr>
        <p:spPr>
          <a:xfrm>
            <a:off x="5989320" y="2176272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records only: search planner and story writer, both Zod-validated. Never decides trust.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5852160" y="2596896"/>
            <a:ext cx="2834640" cy="585216"/>
          </a:xfrm>
          <a:prstGeom prst="roundRect">
            <a:avLst>
              <a:gd name="adj" fmla="val 12500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989320" y="2660904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F0A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5989320" y="2834640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Postgres: PostGIS geofences, pHash Hamming search, hash-chained ledger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5852160" y="3255264"/>
            <a:ext cx="2834640" cy="585216"/>
          </a:xfrm>
          <a:prstGeom prst="roundRect">
            <a:avLst>
              <a:gd name="adj" fmla="val 12500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989320" y="331927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F0A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</a:t>
            </a:r>
            <a:endParaRPr lang="en-US" sz="750" dirty="0"/>
          </a:p>
        </p:txBody>
      </p:sp>
      <p:sp>
        <p:nvSpPr>
          <p:cNvPr id="20" name="Text 17"/>
          <p:cNvSpPr txBox="1"/>
          <p:nvPr/>
        </p:nvSpPr>
        <p:spPr>
          <a:xfrm>
            <a:off x="5989320" y="349300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15, React 19, TypeScript, Tailwind 4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5852160" y="3913632"/>
            <a:ext cx="2834640" cy="585216"/>
          </a:xfrm>
          <a:prstGeom prst="roundRect">
            <a:avLst>
              <a:gd name="adj" fmla="val 12500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989320" y="39776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F0A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AS CODE</a:t>
            </a:r>
            <a:endParaRPr lang="en-US" sz="750" dirty="0"/>
          </a:p>
        </p:txBody>
      </p:sp>
      <p:sp>
        <p:nvSpPr>
          <p:cNvPr id="23" name="Text 20"/>
          <p:cNvSpPr txBox="1"/>
          <p:nvPr/>
        </p:nvSpPr>
        <p:spPr>
          <a:xfrm>
            <a:off x="5989320" y="4151376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run setup:cloudinary creates presets, transforms and metadata fields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CLOUDINARY DEPTH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capability has a job.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CUBICLE 6.0  ·  CLOUDINARY TRACK  ·  PRAMAAN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29260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PRAMAAN </a:t>
            </a:r>
            <a:pPr algn="r" indent="0" marL="0">
              <a:buNone/>
            </a:pPr>
            <a:r>
              <a:rPr lang="en-US" sz="100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प्रमाण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389888"/>
            <a:ext cx="292608" cy="292608"/>
          </a:xfrm>
          <a:prstGeom prst="roundRect">
            <a:avLst>
              <a:gd name="adj" fmla="val 25000"/>
            </a:avLst>
          </a:prstGeom>
          <a:solidFill>
            <a:srgbClr val="D5FDA1"/>
          </a:solidFill>
          <a:ln w="12700">
            <a:solidFill>
              <a:srgbClr val="D5FDA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8858" y="1471818"/>
            <a:ext cx="128748" cy="12874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32688" y="13898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uploads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1783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signs an allowlist; secret never leaves it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2542032" y="128016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51760" y="1389888"/>
            <a:ext cx="292608" cy="292608"/>
          </a:xfrm>
          <a:prstGeom prst="roundRect">
            <a:avLst>
              <a:gd name="adj" fmla="val 25000"/>
            </a:avLst>
          </a:prstGeom>
          <a:solidFill>
            <a:srgbClr val="D5FDA1"/>
          </a:solidFill>
          <a:ln w="12700">
            <a:solidFill>
              <a:srgbClr val="D5FDA1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690" y="1471818"/>
            <a:ext cx="128748" cy="12874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017520" y="13898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preset + eval gate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2651760" y="1783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Tags no_gps, blurry, faces, edited_software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4626864" y="128016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36592" y="1389888"/>
            <a:ext cx="292608" cy="292608"/>
          </a:xfrm>
          <a:prstGeom prst="roundRect">
            <a:avLst>
              <a:gd name="adj" fmla="val 25000"/>
            </a:avLst>
          </a:prstGeom>
          <a:solidFill>
            <a:srgbClr val="D5FDA1"/>
          </a:solidFill>
          <a:ln w="12700">
            <a:solidFill>
              <a:srgbClr val="D5FDA1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22" y="1471818"/>
            <a:ext cx="128748" cy="12874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102352" y="13898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Vision (JSON schema)</a:t>
            </a:r>
            <a:endParaRPr lang="en-US" sz="850" dirty="0"/>
          </a:p>
        </p:txBody>
      </p:sp>
      <p:sp>
        <p:nvSpPr>
          <p:cNvPr id="21" name="Text 16"/>
          <p:cNvSpPr txBox="1"/>
          <p:nvPr/>
        </p:nvSpPr>
        <p:spPr>
          <a:xfrm>
            <a:off x="4736592" y="1783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Activity, claim match, recapture, synthetic cues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6711696" y="128016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821424" y="1389888"/>
            <a:ext cx="292608" cy="292608"/>
          </a:xfrm>
          <a:prstGeom prst="roundRect">
            <a:avLst>
              <a:gd name="adj" fmla="val 25000"/>
            </a:avLst>
          </a:prstGeom>
          <a:solidFill>
            <a:srgbClr val="D5FDA1"/>
          </a:solidFill>
          <a:ln w="12700">
            <a:solidFill>
              <a:srgbClr val="D5FDA1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354" y="1471818"/>
            <a:ext cx="128748" cy="12874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187184" y="13898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pHash, faces, quality</a:t>
            </a:r>
            <a:endParaRPr lang="en-US" sz="850" dirty="0"/>
          </a:p>
        </p:txBody>
      </p:sp>
      <p:sp>
        <p:nvSpPr>
          <p:cNvPr id="26" name="Text 20"/>
          <p:cNvSpPr txBox="1"/>
          <p:nvPr/>
        </p:nvSpPr>
        <p:spPr>
          <a:xfrm>
            <a:off x="6821424" y="1783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signals the trust score is built from</a:t>
            </a:r>
            <a:endParaRPr lang="en-US" sz="800" dirty="0"/>
          </a:p>
        </p:txBody>
      </p:sp>
      <p:sp>
        <p:nvSpPr>
          <p:cNvPr id="27" name="Shape 21"/>
          <p:cNvSpPr/>
          <p:nvPr/>
        </p:nvSpPr>
        <p:spPr>
          <a:xfrm>
            <a:off x="457200" y="23317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566928" y="2441448"/>
            <a:ext cx="292608" cy="292608"/>
          </a:xfrm>
          <a:prstGeom prst="roundRect">
            <a:avLst>
              <a:gd name="adj" fmla="val 25000"/>
            </a:avLst>
          </a:prstGeom>
          <a:solidFill>
            <a:srgbClr val="D5FDA1"/>
          </a:solidFill>
          <a:ln w="12700">
            <a:solidFill>
              <a:srgbClr val="D5FDA1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858" y="2523378"/>
            <a:ext cx="128748" cy="12874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32688" y="244144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transformations</a:t>
            </a:r>
            <a:endParaRPr lang="en-US" sz="850" dirty="0"/>
          </a:p>
        </p:txBody>
      </p:sp>
      <p:sp>
        <p:nvSpPr>
          <p:cNvPr id="31" name="Text 24"/>
          <p:cNvSpPr txBox="1"/>
          <p:nvPr/>
        </p:nvSpPr>
        <p:spPr>
          <a:xfrm>
            <a:off x="566928" y="2834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recipes, a name instead of a string</a:t>
            </a:r>
            <a:endParaRPr lang="en-US" sz="800" dirty="0"/>
          </a:p>
        </p:txBody>
      </p:sp>
      <p:sp>
        <p:nvSpPr>
          <p:cNvPr id="32" name="Shape 25"/>
          <p:cNvSpPr/>
          <p:nvPr/>
        </p:nvSpPr>
        <p:spPr>
          <a:xfrm>
            <a:off x="2542032" y="23317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2651760" y="2441448"/>
            <a:ext cx="292608" cy="292608"/>
          </a:xfrm>
          <a:prstGeom prst="roundRect">
            <a:avLst>
              <a:gd name="adj" fmla="val 25000"/>
            </a:avLst>
          </a:prstGeom>
          <a:solidFill>
            <a:srgbClr val="D5FDA1"/>
          </a:solidFill>
          <a:ln w="12700">
            <a:solidFill>
              <a:srgbClr val="D5FDA1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33690" y="2523378"/>
            <a:ext cx="128748" cy="128748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3017520" y="244144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Consent-aware redaction</a:t>
            </a:r>
            <a:endParaRPr lang="en-US" sz="850" dirty="0"/>
          </a:p>
        </p:txBody>
      </p:sp>
      <p:sp>
        <p:nvSpPr>
          <p:cNvPr id="36" name="Text 28"/>
          <p:cNvSpPr txBox="1"/>
          <p:nvPr/>
        </p:nvSpPr>
        <p:spPr>
          <a:xfrm>
            <a:off x="2651760" y="2834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Faces pixelated unless consent is on file</a:t>
            </a:r>
            <a:endParaRPr lang="en-US" sz="800" dirty="0"/>
          </a:p>
        </p:txBody>
      </p:sp>
      <p:sp>
        <p:nvSpPr>
          <p:cNvPr id="37" name="Shape 29"/>
          <p:cNvSpPr/>
          <p:nvPr/>
        </p:nvSpPr>
        <p:spPr>
          <a:xfrm>
            <a:off x="4626864" y="23317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4736592" y="2441448"/>
            <a:ext cx="292608" cy="292608"/>
          </a:xfrm>
          <a:prstGeom prst="roundRect">
            <a:avLst>
              <a:gd name="adj" fmla="val 25000"/>
            </a:avLst>
          </a:prstGeom>
          <a:solidFill>
            <a:srgbClr val="D5FDA1"/>
          </a:solidFill>
          <a:ln w="12700">
            <a:solidFill>
              <a:srgbClr val="D5FDA1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8522" y="2523378"/>
            <a:ext cx="128748" cy="1287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5102352" y="244144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Overlay composite</a:t>
            </a:r>
            <a:endParaRPr lang="en-US" sz="850" dirty="0"/>
          </a:p>
        </p:txBody>
      </p:sp>
      <p:sp>
        <p:nvSpPr>
          <p:cNvPr id="41" name="Text 32"/>
          <p:cNvSpPr txBox="1"/>
          <p:nvPr/>
        </p:nvSpPr>
        <p:spPr>
          <a:xfrm>
            <a:off x="4736592" y="2834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and after in one URL</a:t>
            </a:r>
            <a:endParaRPr lang="en-US" sz="800" dirty="0"/>
          </a:p>
        </p:txBody>
      </p:sp>
      <p:sp>
        <p:nvSpPr>
          <p:cNvPr id="42" name="Shape 33"/>
          <p:cNvSpPr/>
          <p:nvPr/>
        </p:nvSpPr>
        <p:spPr>
          <a:xfrm>
            <a:off x="6711696" y="23317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6821424" y="2441448"/>
            <a:ext cx="292608" cy="292608"/>
          </a:xfrm>
          <a:prstGeom prst="roundRect">
            <a:avLst>
              <a:gd name="adj" fmla="val 25000"/>
            </a:avLst>
          </a:prstGeom>
          <a:solidFill>
            <a:srgbClr val="D5FDA1"/>
          </a:solidFill>
          <a:ln w="12700">
            <a:solidFill>
              <a:srgbClr val="D5FDA1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03354" y="2523378"/>
            <a:ext cx="128748" cy="128748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7187184" y="244144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Fill, g_auto, f_auto, q_auto</a:t>
            </a:r>
            <a:endParaRPr lang="en-US" sz="850" dirty="0"/>
          </a:p>
        </p:txBody>
      </p:sp>
      <p:sp>
        <p:nvSpPr>
          <p:cNvPr id="46" name="Text 36"/>
          <p:cNvSpPr txBox="1"/>
          <p:nvPr/>
        </p:nvSpPr>
        <p:spPr>
          <a:xfrm>
            <a:off x="6821424" y="2834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Cropped and served in the best format</a:t>
            </a:r>
            <a:endParaRPr lang="en-US" sz="800" dirty="0"/>
          </a:p>
        </p:txBody>
      </p:sp>
      <p:sp>
        <p:nvSpPr>
          <p:cNvPr id="47" name="Shape 37"/>
          <p:cNvSpPr/>
          <p:nvPr/>
        </p:nvSpPr>
        <p:spPr>
          <a:xfrm>
            <a:off x="457200" y="338328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48" name="Shape 38"/>
          <p:cNvSpPr/>
          <p:nvPr/>
        </p:nvSpPr>
        <p:spPr>
          <a:xfrm>
            <a:off x="566928" y="3493008"/>
            <a:ext cx="292608" cy="292608"/>
          </a:xfrm>
          <a:prstGeom prst="roundRect">
            <a:avLst>
              <a:gd name="adj" fmla="val 25000"/>
            </a:avLst>
          </a:prstGeom>
          <a:solidFill>
            <a:srgbClr val="D5FDA1"/>
          </a:solidFill>
          <a:ln w="12700">
            <a:solidFill>
              <a:srgbClr val="D5FDA1"/>
            </a:solidFill>
            <a:prstDash val="solid"/>
          </a:ln>
        </p:spPr>
      </p:sp>
      <p:pic>
        <p:nvPicPr>
          <p:cNvPr id="4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858" y="3574938"/>
            <a:ext cx="128748" cy="128748"/>
          </a:xfrm>
          <a:prstGeom prst="rect">
            <a:avLst/>
          </a:prstGeom>
        </p:spPr>
      </p:pic>
      <p:sp>
        <p:nvSpPr>
          <p:cNvPr id="50" name="Text 39"/>
          <p:cNvSpPr txBox="1"/>
          <p:nvPr/>
        </p:nvSpPr>
        <p:spPr>
          <a:xfrm>
            <a:off x="932688" y="349300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Webhooks</a:t>
            </a:r>
            <a:endParaRPr lang="en-US" sz="850" dirty="0"/>
          </a:p>
        </p:txBody>
      </p:sp>
      <p:sp>
        <p:nvSpPr>
          <p:cNvPr id="51" name="Text 40"/>
          <p:cNvSpPr txBox="1"/>
          <p:nvPr/>
        </p:nvSpPr>
        <p:spPr>
          <a:xfrm>
            <a:off x="566928" y="3886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Signature verified, 500 on failure so it retries</a:t>
            </a:r>
            <a:endParaRPr lang="en-US" sz="800" dirty="0"/>
          </a:p>
        </p:txBody>
      </p:sp>
      <p:sp>
        <p:nvSpPr>
          <p:cNvPr id="52" name="Shape 41"/>
          <p:cNvSpPr/>
          <p:nvPr/>
        </p:nvSpPr>
        <p:spPr>
          <a:xfrm>
            <a:off x="2542032" y="338328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53" name="Shape 42"/>
          <p:cNvSpPr/>
          <p:nvPr/>
        </p:nvSpPr>
        <p:spPr>
          <a:xfrm>
            <a:off x="2651760" y="3493008"/>
            <a:ext cx="292608" cy="292608"/>
          </a:xfrm>
          <a:prstGeom prst="roundRect">
            <a:avLst>
              <a:gd name="adj" fmla="val 25000"/>
            </a:avLst>
          </a:prstGeom>
          <a:solidFill>
            <a:srgbClr val="D5FDA1"/>
          </a:solidFill>
          <a:ln w="12700">
            <a:solidFill>
              <a:srgbClr val="D5FDA1"/>
            </a:solidFill>
            <a:prstDash val="solid"/>
          </a:ln>
        </p:spPr>
      </p:sp>
      <p:pic>
        <p:nvPicPr>
          <p:cNvPr id="5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33690" y="3574938"/>
            <a:ext cx="128748" cy="128748"/>
          </a:xfrm>
          <a:prstGeom prst="rect">
            <a:avLst/>
          </a:prstGeom>
        </p:spPr>
      </p:pic>
      <p:sp>
        <p:nvSpPr>
          <p:cNvPr id="55" name="Text 43"/>
          <p:cNvSpPr txBox="1"/>
          <p:nvPr/>
        </p:nvSpPr>
        <p:spPr>
          <a:xfrm>
            <a:off x="3017520" y="349300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Moderation status</a:t>
            </a:r>
            <a:endParaRPr lang="en-US" sz="850" dirty="0"/>
          </a:p>
        </p:txBody>
      </p:sp>
      <p:sp>
        <p:nvSpPr>
          <p:cNvPr id="56" name="Text 44"/>
          <p:cNvSpPr txBox="1"/>
          <p:nvPr/>
        </p:nvSpPr>
        <p:spPr>
          <a:xfrm>
            <a:off x="2651760" y="3886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 decision mirrored into the DAM</a:t>
            </a:r>
            <a:endParaRPr lang="en-US" sz="800" dirty="0"/>
          </a:p>
        </p:txBody>
      </p:sp>
      <p:sp>
        <p:nvSpPr>
          <p:cNvPr id="57" name="Shape 45"/>
          <p:cNvSpPr/>
          <p:nvPr/>
        </p:nvSpPr>
        <p:spPr>
          <a:xfrm>
            <a:off x="4626864" y="338328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58" name="Shape 46"/>
          <p:cNvSpPr/>
          <p:nvPr/>
        </p:nvSpPr>
        <p:spPr>
          <a:xfrm>
            <a:off x="4736592" y="3493008"/>
            <a:ext cx="292608" cy="292608"/>
          </a:xfrm>
          <a:prstGeom prst="roundRect">
            <a:avLst>
              <a:gd name="adj" fmla="val 25000"/>
            </a:avLst>
          </a:prstGeom>
          <a:solidFill>
            <a:srgbClr val="D5FDA1"/>
          </a:solidFill>
          <a:ln w="12700">
            <a:solidFill>
              <a:srgbClr val="D5FDA1"/>
            </a:solidFill>
            <a:prstDash val="solid"/>
          </a:ln>
        </p:spPr>
      </p:sp>
      <p:pic>
        <p:nvPicPr>
          <p:cNvPr id="5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18522" y="3574938"/>
            <a:ext cx="128748" cy="128748"/>
          </a:xfrm>
          <a:prstGeom prst="rect">
            <a:avLst/>
          </a:prstGeom>
        </p:spPr>
      </p:pic>
      <p:sp>
        <p:nvSpPr>
          <p:cNvPr id="60" name="Text 47"/>
          <p:cNvSpPr txBox="1"/>
          <p:nvPr/>
        </p:nvSpPr>
        <p:spPr>
          <a:xfrm>
            <a:off x="5102352" y="349300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 + Search API</a:t>
            </a:r>
            <a:endParaRPr lang="en-US" sz="850" dirty="0"/>
          </a:p>
        </p:txBody>
      </p:sp>
      <p:sp>
        <p:nvSpPr>
          <p:cNvPr id="61" name="Text 48"/>
          <p:cNvSpPr txBox="1"/>
          <p:nvPr/>
        </p:nvSpPr>
        <p:spPr>
          <a:xfrm>
            <a:off x="4736592" y="3886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and trust_score written back</a:t>
            </a:r>
            <a:endParaRPr lang="en-US" sz="800" dirty="0"/>
          </a:p>
        </p:txBody>
      </p:sp>
      <p:sp>
        <p:nvSpPr>
          <p:cNvPr id="62" name="Shape 49"/>
          <p:cNvSpPr/>
          <p:nvPr/>
        </p:nvSpPr>
        <p:spPr>
          <a:xfrm>
            <a:off x="6711696" y="338328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63" name="Shape 50"/>
          <p:cNvSpPr/>
          <p:nvPr/>
        </p:nvSpPr>
        <p:spPr>
          <a:xfrm>
            <a:off x="6821424" y="3493008"/>
            <a:ext cx="292608" cy="292608"/>
          </a:xfrm>
          <a:prstGeom prst="roundRect">
            <a:avLst>
              <a:gd name="adj" fmla="val 25000"/>
            </a:avLst>
          </a:prstGeom>
          <a:solidFill>
            <a:srgbClr val="D5FDA1"/>
          </a:solidFill>
          <a:ln w="12700">
            <a:solidFill>
              <a:srgbClr val="D5FDA1"/>
            </a:solidFill>
            <a:prstDash val="solid"/>
          </a:ln>
        </p:spPr>
      </p:sp>
      <p:pic>
        <p:nvPicPr>
          <p:cNvPr id="6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03354" y="3574938"/>
            <a:ext cx="128748" cy="128748"/>
          </a:xfrm>
          <a:prstGeom prst="rect">
            <a:avLst/>
          </a:prstGeom>
        </p:spPr>
      </p:pic>
      <p:sp>
        <p:nvSpPr>
          <p:cNvPr id="65" name="Text 51"/>
          <p:cNvSpPr txBox="1"/>
          <p:nvPr/>
        </p:nvSpPr>
        <p:spPr>
          <a:xfrm>
            <a:off x="7187184" y="349300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packs with multi()</a:t>
            </a:r>
            <a:endParaRPr lang="en-US" sz="850" dirty="0"/>
          </a:p>
        </p:txBody>
      </p:sp>
      <p:sp>
        <p:nvSpPr>
          <p:cNvPr id="66" name="Text 52"/>
          <p:cNvSpPr txBox="1"/>
          <p:nvPr/>
        </p:nvSpPr>
        <p:spPr>
          <a:xfrm>
            <a:off x="6821424" y="3886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evidence rendered for a funder</a:t>
            </a:r>
            <a:endParaRPr lang="en-US" sz="800" dirty="0"/>
          </a:p>
        </p:txBody>
      </p:sp>
      <p:sp>
        <p:nvSpPr>
          <p:cNvPr id="67" name="Text 53"/>
          <p:cNvSpPr txBox="1"/>
          <p:nvPr/>
        </p:nvSpPr>
        <p:spPr>
          <a:xfrm>
            <a:off x="457200" y="44805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twelve are in the code.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next: video transcripts and chapters, and C2PA content credentials.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JURY WANTS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how Cloudinary judges.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CUBICLE 6.0  ·  CLOUDINARY TRACK  ·  PRAMAAN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29260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PRAMAAN </a:t>
            </a:r>
            <a:pPr algn="r" indent="0" marL="0">
              <a:buNone/>
            </a:pPr>
            <a:r>
              <a:rPr lang="en-US" sz="100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प्रमाण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801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8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media integration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12801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Cloudinary as perception, rendering and lineage: eval gate, AI Vision, pHash, transforms, moderation. Not storage.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19202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8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Functional, real app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19202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working screens: capture, import, review, compare, verify. Code, migrations and seed data in the repo.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56032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5603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8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25603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usefulness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25603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in Indian data, with a paying buyer: CSR teams under Rule 8(3).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320040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2004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8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200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engineering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566160" y="32004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vs designed is stated on the page. Generative pixels are blocked from evidence.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84048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38404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8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3840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and video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566160" y="38404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 explains each integration and design decision. 2-4 minute demo video.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prototype proves.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CUBICLE 6.0  ·  CLOUDINARY TRACK  ·  PRAMAAN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29260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PRAMAAN </a:t>
            </a:r>
            <a:pPr algn="r" indent="0" marL="0">
              <a:buNone/>
            </a:pPr>
            <a:r>
              <a:rPr lang="en-US" sz="100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प्रमाण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55448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51460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trust signals, each with a reason on screen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42032" y="13716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24912" y="155448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2724912" y="251460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Cloudinary transformations, so a recipe is a name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26864" y="13716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9744" y="155448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4809744" y="251460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pixels allowed in the evidence layer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11696" y="13716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94576" y="155448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6894576" y="251460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 chain behind every decision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6118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703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buyer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9502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NGOs use it free. Funders and CSR teams pay for portfolio views and audit packs. Building a quarterly donor report from field photos, about 20 hours today, is the design target to cut to under one hour, to be validated with pilot NGOs.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STATUS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done, and what is not.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CUBICLE 6.0  ·  CLOUDINARY TRACK  ·  PRAMAAN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29260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PRAMAAN </a:t>
            </a:r>
            <a:pPr algn="r" indent="0" marL="0">
              <a:buNone/>
            </a:pPr>
            <a:r>
              <a:rPr lang="en-US" sz="100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प्रमाण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444752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D5FDA1"/>
          </a:solidFill>
          <a:ln w="12700">
            <a:solidFill>
              <a:srgbClr val="D5FDA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144475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03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874520"/>
            <a:ext cx="22860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capture and desk import</a:t>
            </a:r>
            <a:endParaRPr lang="en-US" sz="9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preset with eval gate</a:t>
            </a:r>
            <a:endParaRPr lang="en-US" sz="9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Webhook, AI Vision job, eight-signal engine</a:t>
            </a:r>
            <a:endParaRPr lang="en-US" sz="9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PostGIS geofence and pHash reuse</a:t>
            </a:r>
            <a:endParaRPr lang="en-US" sz="9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queue, ledger, moderation sync</a:t>
            </a:r>
            <a:endParaRPr lang="en-US" sz="9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Compare, verify, search and story APIs</a:t>
            </a:r>
            <a:endParaRPr lang="en-US" sz="9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firewall classifier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46120" y="128016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9000" y="1444752"/>
            <a:ext cx="1517904" cy="237744"/>
          </a:xfrm>
          <a:prstGeom prst="roundRect">
            <a:avLst>
              <a:gd name="adj" fmla="val 50000"/>
            </a:avLst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29000" y="1444752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03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YET PROVEN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874520"/>
            <a:ext cx="22860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Type-checks and builds, but not yet run end to end on live accounts</a:t>
            </a:r>
            <a:endParaRPr lang="en-US" sz="9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Cloudinary moderation may need a different call</a:t>
            </a:r>
            <a:endParaRPr lang="en-US" sz="9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screen has no login yet</a:t>
            </a:r>
            <a:endParaRPr lang="en-US" sz="9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images come from Cloudinary's public sample cloud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35040" y="128016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444752"/>
            <a:ext cx="1929384" cy="237744"/>
          </a:xfrm>
          <a:prstGeom prst="roundRect">
            <a:avLst>
              <a:gd name="adj" fmla="val 50000"/>
            </a:avLst>
          </a:prstGeom>
          <a:solidFill>
            <a:srgbClr val="223756"/>
          </a:solidFill>
          <a:ln w="12700">
            <a:solidFill>
              <a:srgbClr val="22375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1444752"/>
            <a:ext cx="1929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DESIGNED, NOT BUILT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1874520"/>
            <a:ext cx="22860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before/after pairing</a:t>
            </a:r>
            <a:endParaRPr lang="en-US" sz="9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Vegetation index from pixels</a:t>
            </a:r>
            <a:endParaRPr lang="en-US" sz="9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transcripts and chapters</a:t>
            </a:r>
            <a:endParaRPr lang="en-US" sz="9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C2PA credentials</a:t>
            </a:r>
            <a:endParaRPr lang="en-US" sz="9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 search</a:t>
            </a:r>
            <a:endParaRPr lang="en-US" sz="9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for search and story writing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PRAMAAN  ·  प्रमाण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685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photo verified.</a:t>
            </a:r>
            <a:endParaRPr lang="en-US" sz="3800" dirty="0"/>
          </a:p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pixel traceable.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651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field photo to verified impact, built on Cloudinary.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42900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5387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73989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HoloTrio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361188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Sanskar Tiwari  -  Team Leader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Shambhavi Patil  -  Member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Kanishka Salgude  -  Member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446520" y="2880360"/>
            <a:ext cx="2240280" cy="1828800"/>
          </a:xfrm>
          <a:prstGeom prst="roundRect">
            <a:avLst>
              <a:gd name="adj" fmla="val 4000"/>
            </a:avLst>
          </a:prstGeom>
          <a:solidFill>
            <a:srgbClr val="15233A"/>
          </a:solidFill>
          <a:ln w="9525">
            <a:solidFill>
              <a:srgbClr val="223756"/>
            </a:solidFill>
            <a:prstDash val="solid"/>
          </a:ln>
        </p:spPr>
      </p:sp>
      <p:pic>
        <p:nvPicPr>
          <p:cNvPr id="10" name="Image 0" descr="C:\Users\kanis\AppData\Local\Temp\claude\C--MY-MYPROJECTS-cloudinary-research\81dc3e25-ef47-422e-abdc-d451e496bb80\scratchpad/assets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3017520"/>
            <a:ext cx="1051560" cy="105156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863840" y="310896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D5F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333756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B3CF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for the code, README and research</a:t>
            </a:r>
            <a:endParaRPr lang="en-US" sz="700" dirty="0"/>
          </a:p>
        </p:txBody>
      </p:sp>
      <p:sp>
        <p:nvSpPr>
          <p:cNvPr id="13" name="Text 10"/>
          <p:cNvSpPr txBox="1"/>
          <p:nvPr/>
        </p:nvSpPr>
        <p:spPr>
          <a:xfrm>
            <a:off x="6537960" y="4251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github.com/kanishkasalgude/cloudinary_research</a:t>
            </a:r>
            <a:endParaRPr lang="en-US" sz="7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7548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Cubicle 6.0  ·  Cloudinary track  ·  Paytm, Noida  ·  11 Oct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E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Pramaan – Pitch Deck</dc:title>
  <dc:subject>PptxGenJS Presentation</dc:subject>
  <dc:creator>Team Pramaan</dc:creator>
  <cp:lastModifiedBy>Team Pramaan</cp:lastModifiedBy>
  <cp:revision>1</cp:revision>
  <dcterms:created xsi:type="dcterms:W3CDTF">2026-09-29T17:33:57Z</dcterms:created>
  <dcterms:modified xsi:type="dcterms:W3CDTF">2026-09-29T17:33:57Z</dcterms:modified>
</cp:coreProperties>
</file>